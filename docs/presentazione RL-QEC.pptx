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  <p:sldMasterId id="2147483805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9" r:id="rId7"/>
    <p:sldId id="260" r:id="rId8"/>
    <p:sldId id="270" r:id="rId9"/>
    <p:sldId id="262" r:id="rId10"/>
    <p:sldId id="272" r:id="rId11"/>
    <p:sldId id="264" r:id="rId12"/>
    <p:sldId id="265" r:id="rId13"/>
    <p:sldId id="267" r:id="rId14"/>
    <p:sldId id="263" r:id="rId15"/>
    <p:sldId id="268" r:id="rId16"/>
    <p:sldId id="277" r:id="rId17"/>
    <p:sldId id="274" r:id="rId18"/>
    <p:sldId id="275" r:id="rId19"/>
    <p:sldId id="276" r:id="rId20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E2FF"/>
    <a:srgbClr val="F5B901"/>
    <a:srgbClr val="F2B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51D60BF0-7F0B-4E5D-B4A5-BED68C37EAFA}" type="datetimeFigureOut">
              <a:rPr lang="it-IT" smtClean="0"/>
              <a:t>27/11/2025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2EFFA48-2227-4A36-9AF3-CCCE40A6B36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3872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42F7-3F28-16DF-0842-25881E62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0F557A6-DFDA-44EC-A381-57375A4CD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EF81913-4ACA-B1FF-46C7-E413694C2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4C8F9B-A5A4-46C7-B507-401D40AF19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FFA48-2227-4A36-9AF3-CCCE40A6B369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807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EFFA48-2227-4A36-9AF3-CCCE40A6B36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105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87588"/>
            <a:ext cx="9144000" cy="210312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55580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0079A343-C016-29E9-74B7-791A34A7FECF}"/>
              </a:ext>
            </a:extLst>
          </p:cNvPr>
          <p:cNvSpPr/>
          <p:nvPr userDrawn="1"/>
        </p:nvSpPr>
        <p:spPr>
          <a:xfrm>
            <a:off x="0" y="-1"/>
            <a:ext cx="12192000" cy="165576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 dirty="0"/>
          </a:p>
        </p:txBody>
      </p:sp>
      <p:sp>
        <p:nvSpPr>
          <p:cNvPr id="14" name="Segnaposto testo 13">
            <a:extLst>
              <a:ext uri="{FF2B5EF4-FFF2-40B4-BE49-F238E27FC236}">
                <a16:creationId xmlns:a16="http://schemas.microsoft.com/office/drawing/2014/main" id="{0C4BAE5A-DFEE-6B97-678C-153E23668E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4000" y="203199"/>
            <a:ext cx="9144000" cy="1754189"/>
          </a:xfrm>
        </p:spPr>
        <p:txBody>
          <a:bodyPr/>
          <a:lstStyle>
            <a:lvl1pPr algn="ctr">
              <a:buNone/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 sz="3200" dirty="0"/>
              <a:t>UNIVERSITÀ DEGLI STUDI DI MILANO-BICOCCA</a:t>
            </a:r>
          </a:p>
          <a:p>
            <a:r>
              <a:rPr lang="it-IT" sz="2800" dirty="0"/>
              <a:t>Dipartimento di Fisica «G. Occhialini»</a:t>
            </a:r>
          </a:p>
          <a:p>
            <a:r>
              <a:rPr lang="it-IT" sz="2800" dirty="0"/>
              <a:t>Corso di Laurea Triennale</a:t>
            </a:r>
          </a:p>
        </p:txBody>
      </p:sp>
    </p:spTree>
    <p:extLst>
      <p:ext uri="{BB962C8B-B14F-4D97-AF65-F5344CB8AC3E}">
        <p14:creationId xmlns:p14="http://schemas.microsoft.com/office/powerpoint/2010/main" val="1380867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19B5C46-3B9C-B8C9-88DB-F3E6560A6E5F}"/>
              </a:ext>
            </a:extLst>
          </p:cNvPr>
          <p:cNvSpPr/>
          <p:nvPr userDrawn="1"/>
        </p:nvSpPr>
        <p:spPr>
          <a:xfrm>
            <a:off x="0" y="1"/>
            <a:ext cx="12192000" cy="111182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1" name="Immagine 10" descr="Immagine che contiene testo, Carattere, Elementi grafici, poster&#10;&#10;Il contenuto generato dall'IA potrebbe non essere corretto.">
            <a:extLst>
              <a:ext uri="{FF2B5EF4-FFF2-40B4-BE49-F238E27FC236}">
                <a16:creationId xmlns:a16="http://schemas.microsoft.com/office/drawing/2014/main" id="{792346D5-D678-09B0-5CB0-F1ACE8080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091" y="116840"/>
            <a:ext cx="880100" cy="869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189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DC708F47-9AAD-3C42-FA4C-C2D01BADB223}"/>
              </a:ext>
            </a:extLst>
          </p:cNvPr>
          <p:cNvSpPr/>
          <p:nvPr userDrawn="1"/>
        </p:nvSpPr>
        <p:spPr>
          <a:xfrm>
            <a:off x="0" y="1"/>
            <a:ext cx="12192000" cy="111182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8" name="Immagine 7" descr="Immagine che contiene testo, Carattere, Elementi grafici, poster&#10;&#10;Il contenuto generato dall'IA potrebbe non essere corretto.">
            <a:extLst>
              <a:ext uri="{FF2B5EF4-FFF2-40B4-BE49-F238E27FC236}">
                <a16:creationId xmlns:a16="http://schemas.microsoft.com/office/drawing/2014/main" id="{5FCD7DE2-FE65-C1A9-5FE0-DDF2D586B2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091" y="116840"/>
            <a:ext cx="880100" cy="86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14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912843FA-EDBD-1793-96A7-1EF85F871201}"/>
              </a:ext>
            </a:extLst>
          </p:cNvPr>
          <p:cNvSpPr/>
          <p:nvPr userDrawn="1"/>
        </p:nvSpPr>
        <p:spPr>
          <a:xfrm>
            <a:off x="0" y="1"/>
            <a:ext cx="12192000" cy="111182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9" name="Immagine 8" descr="Immagine che contiene testo, Carattere, Elementi grafici, poster&#10;&#10;Il contenuto generato dall'IA potrebbe non essere corretto.">
            <a:extLst>
              <a:ext uri="{FF2B5EF4-FFF2-40B4-BE49-F238E27FC236}">
                <a16:creationId xmlns:a16="http://schemas.microsoft.com/office/drawing/2014/main" id="{BD898B93-5CFD-EE6F-4EEF-947C136882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091" y="116840"/>
            <a:ext cx="880100" cy="869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7030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2391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80EE5DD3-E681-DD59-6B94-BB149ECC314E}"/>
              </a:ext>
            </a:extLst>
          </p:cNvPr>
          <p:cNvSpPr/>
          <p:nvPr userDrawn="1"/>
        </p:nvSpPr>
        <p:spPr>
          <a:xfrm>
            <a:off x="0" y="1"/>
            <a:ext cx="12192000" cy="111182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7" name="Immagine 6" descr="Immagine che contiene testo, Carattere, Elementi grafici, poster&#10;&#10;Il contenuto generato dall'IA potrebbe non essere corretto.">
            <a:extLst>
              <a:ext uri="{FF2B5EF4-FFF2-40B4-BE49-F238E27FC236}">
                <a16:creationId xmlns:a16="http://schemas.microsoft.com/office/drawing/2014/main" id="{4F8618F3-75F2-792D-FF26-31A30ED4AC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091" y="116840"/>
            <a:ext cx="880100" cy="869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721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1D5CEDD-1D7E-2869-97D0-5F880F025CA0}"/>
              </a:ext>
            </a:extLst>
          </p:cNvPr>
          <p:cNvSpPr/>
          <p:nvPr userDrawn="1"/>
        </p:nvSpPr>
        <p:spPr>
          <a:xfrm>
            <a:off x="0" y="1"/>
            <a:ext cx="12192000" cy="111182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6" name="Immagine 5" descr="Immagine che contiene testo, Carattere, Elementi grafici, poster&#10;&#10;Il contenuto generato dall'IA potrebbe non essere corretto.">
            <a:extLst>
              <a:ext uri="{FF2B5EF4-FFF2-40B4-BE49-F238E27FC236}">
                <a16:creationId xmlns:a16="http://schemas.microsoft.com/office/drawing/2014/main" id="{CEF8B096-D8A4-F995-1A23-4A43D34D01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2091" y="116840"/>
            <a:ext cx="880100" cy="86995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327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169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176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0695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62037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C3E6AD-D1C9-B519-7F2F-99962B74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F1A6FD9-9B49-2571-4772-4D391F0CF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AA144BC-1AA6-AAF4-2DDC-E4FC64BC2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>
                <a:solidFill>
                  <a:schemeClr val="bg1"/>
                </a:solidFill>
              </a:rPr>
              <a:t>Sviluppo di un decoder basato su Reinforcement Learning per Quantum Error Correction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96EEE29-284E-3867-38AE-59FF7123A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99474-259A-494F-A763-5E72E8B8E212}" type="slidenum">
              <a:rPr lang="it-IT" smtClean="0"/>
              <a:pPr/>
              <a:t>‹N›</a:t>
            </a:fld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952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BC430B-B0FE-15CC-D4E9-2258038D56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9C888A8-71D3-D326-8D7E-EF73575157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9E44749-5D6D-CB7C-D89F-D63585E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FA2C1F2-8426-90C7-63EE-A543DB81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1070B6-01CD-34B4-09F1-0FEF8EF1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09665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44068E-4E1D-58D1-2B81-695FEBA03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313191-79D7-31BD-5D14-F66868063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A12F4-95AA-840C-B695-8E8FA58FC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712A5E-2DAD-FCD8-57EC-22520171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DBFE32-7160-A0BC-1C08-7A8776AD9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7676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BD1319-0B97-DE7B-D7B5-73CF455E1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710BA09-93E2-D2A8-D937-5F9544505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C4F1331-0645-B4D2-B1BB-759809F27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127FBA-270B-C6EC-9FB5-30321A85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AA8872-EC3E-541F-D676-C521A6AA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7431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944D19-1C8F-0FC4-FFC3-54EA1F788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8FE8CB-A8AA-D08E-039D-D0A68CAE7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DF1A247-AA75-300D-C892-542647FEE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D64792-68BD-8C88-1BBF-14250BA1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98BD85B-5FC5-7328-1817-377D76F5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830719-98EE-387E-A142-AB4536D07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1375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0EBDB4-849D-9BF8-1B51-5B9A22B91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7BEA7FB-2F03-2196-76B9-D18C8E25B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BD3D943-9A00-57AC-B52B-F7C85309C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09FFC66-2258-712D-DCA8-BF63E0E69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8E1C8CE-C0B2-B5D1-C710-2A33EB02C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E6E45E0-3788-A5DA-3E1A-B18B87715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A113A9A-35C5-1770-478F-93A3A8526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3A3F592-B19A-7B1F-2BB5-5DEDA98F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4210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9D27E6-9A7A-7939-A826-CB85A0400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84F1DF8-C861-9713-1B93-FA1A24478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171E084-2C12-8BA1-9E0B-5DB540B0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EC9A8EF-1A4C-F4DF-9C5E-EEB26D591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16352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8DB316A-5C23-3DBB-42AF-08B5AA64A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995FBB6-5E56-1145-6E1F-01ACE1FE5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33E91C-73A5-A29B-B781-F58829CDC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211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16A18D-B5AB-5914-4E10-314F68C88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92126F-37E5-AB2B-0538-0438BA117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299AD1E-3D29-5174-AEFB-1B8D33016B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6BC84B7-AF03-13F0-128F-1F9E1E4D5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6597D8-3F8A-27A6-EC50-3A6E81D6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D286B9A-C2E1-7EF2-1730-7558A1F4B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6206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1BD680-190B-6DAC-AFFE-F14D4D17D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B3DB1F3-D5D3-5BDC-9D34-93C2A2D5D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793701-ED7C-95D9-A4A5-647D0D620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F61E0C0-7CDC-8444-D9AA-462A28876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5D53755-1F56-B6C1-672F-142C46DDE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533D551-D59B-3E78-CDA0-379432F7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37238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4890A6-6196-7310-4B46-693453470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CBAD859-36F9-72A7-C0AA-DF62D2266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199FD0-0B67-1375-AFA4-B1732FC0D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51C832-014B-5995-63E1-A3ABC5631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9907C9-E89E-624C-97C5-735A53FE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33481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D35C0CF-B030-05A3-2B46-8F0BCE3D4D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8580525-DCFD-051E-00BE-C17A71316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6CFD783-E873-BC40-16E6-A9B65CF9E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2101EBB-57CD-9921-FE6B-09B733AFD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81A4C1A-09D5-3191-004A-4D856A06E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96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8DF963D6-49EE-5D78-C243-8D170C82F233}"/>
              </a:ext>
            </a:extLst>
          </p:cNvPr>
          <p:cNvSpPr/>
          <p:nvPr userDrawn="1"/>
        </p:nvSpPr>
        <p:spPr>
          <a:xfrm>
            <a:off x="0" y="6474372"/>
            <a:ext cx="12192000" cy="38362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8246" y="277177"/>
            <a:ext cx="10515600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246" y="1389003"/>
            <a:ext cx="11508474" cy="46819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541770"/>
            <a:ext cx="1003300" cy="2532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/>
              <a:t>27/11/2025</a:t>
            </a:r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97100" y="6541770"/>
            <a:ext cx="7907020" cy="2532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it-IT">
                <a:solidFill>
                  <a:schemeClr val="bg1"/>
                </a:solidFill>
              </a:rPr>
              <a:t>Sviluppo di un decoder basato su Reinforcement Learning per Quantum Error Correction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8120" y="6541770"/>
            <a:ext cx="995680" cy="2532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3A499474-259A-494F-A763-5E72E8B8E212}" type="slidenum">
              <a:rPr lang="it-IT" smtClean="0"/>
              <a:pPr/>
              <a:t>‹N›</a:t>
            </a:fld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482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Segoe Fluent Icons" panose="050A0102010101010101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39140DE-771F-C001-29C0-0F626B538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988481F-916E-7E45-4840-94F9553C9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D41A909-4406-B03E-7AC0-1A121BB80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27/11/2025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A51496-8C66-9DAB-9064-7C58DBA2A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B907A6-A3D2-FD49-9C2F-53AFB5E5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FAFDC-D6DF-4AC0-9C64-DE594D5CEBA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113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39.jp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1524B5AA-F0AC-6959-5504-B14215A24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414" y="3724435"/>
            <a:ext cx="11340662" cy="1140309"/>
          </a:xfrm>
        </p:spPr>
        <p:txBody>
          <a:bodyPr/>
          <a:lstStyle/>
          <a:p>
            <a:r>
              <a:rPr lang="it-IT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Sviluppo di un decoder basato su </a:t>
            </a:r>
            <a:r>
              <a:rPr lang="it-IT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Reinforcement</a:t>
            </a:r>
            <a:r>
              <a:rPr lang="it-IT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Learning per Quantum </a:t>
            </a:r>
            <a:r>
              <a:rPr lang="it-IT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Error</a:t>
            </a:r>
            <a:r>
              <a:rPr lang="it-IT" sz="36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it-IT" sz="36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Correction</a:t>
            </a:r>
            <a:endParaRPr lang="it-IT" sz="36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6" name="Sottotitolo 5">
            <a:extLst>
              <a:ext uri="{FF2B5EF4-FFF2-40B4-BE49-F238E27FC236}">
                <a16:creationId xmlns:a16="http://schemas.microsoft.com/office/drawing/2014/main" id="{223FCDC6-6C60-D976-19ED-4734A245B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24" y="4997946"/>
            <a:ext cx="5918561" cy="1365726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it-IT" sz="2000" b="1" dirty="0"/>
              <a:t>Relatore:</a:t>
            </a:r>
            <a:r>
              <a:rPr lang="it-IT" sz="2000" dirty="0"/>
              <a:t> Prof. Andrea Giachero</a:t>
            </a:r>
          </a:p>
          <a:p>
            <a:pPr algn="l">
              <a:lnSpc>
                <a:spcPct val="100000"/>
              </a:lnSpc>
            </a:pPr>
            <a:r>
              <a:rPr lang="it-IT" sz="2000" b="1" dirty="0"/>
              <a:t>Correlatore:</a:t>
            </a:r>
            <a:r>
              <a:rPr lang="it-IT" sz="2000" dirty="0"/>
              <a:t> Dr. Danilo Labranca</a:t>
            </a:r>
          </a:p>
          <a:p>
            <a:pPr algn="l">
              <a:lnSpc>
                <a:spcPct val="100000"/>
              </a:lnSpc>
            </a:pPr>
            <a:r>
              <a:rPr lang="it-IT" sz="2000" b="1" dirty="0"/>
              <a:t>Relatore esterno:</a:t>
            </a:r>
            <a:r>
              <a:rPr lang="it-IT" sz="2000" dirty="0"/>
              <a:t> Dr. Michele Grossi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08715C1-E9D0-043F-115A-94B01061D0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18742" y="176948"/>
            <a:ext cx="9144000" cy="1425905"/>
          </a:xfrm>
        </p:spPr>
        <p:txBody>
          <a:bodyPr>
            <a:normAutofit/>
          </a:bodyPr>
          <a:lstStyle/>
          <a:p>
            <a:r>
              <a:rPr lang="it-IT" sz="2800" dirty="0">
                <a:latin typeface="+mn-lt"/>
              </a:rPr>
              <a:t>UNIVERSITÀ DEGLI STUDI DI MILANO-BICOCCA</a:t>
            </a:r>
          </a:p>
          <a:p>
            <a:r>
              <a:rPr lang="it-IT" dirty="0">
                <a:latin typeface="+mn-lt"/>
              </a:rPr>
              <a:t>Dipartimento di Fisica «G. Occhialini»</a:t>
            </a:r>
          </a:p>
          <a:p>
            <a:r>
              <a:rPr lang="it-IT" dirty="0">
                <a:latin typeface="+mn-lt"/>
              </a:rPr>
              <a:t>Corso di Laurea Triennale</a:t>
            </a:r>
          </a:p>
        </p:txBody>
      </p:sp>
      <p:pic>
        <p:nvPicPr>
          <p:cNvPr id="9" name="Immagine 8" descr="Immagine che contiene testo, Carattere, Elementi grafici, poster&#10;&#10;Il contenuto generato dall'IA potrebbe non essere corretto.">
            <a:extLst>
              <a:ext uri="{FF2B5EF4-FFF2-40B4-BE49-F238E27FC236}">
                <a16:creationId xmlns:a16="http://schemas.microsoft.com/office/drawing/2014/main" id="{2D58F2D9-3D4A-315F-0019-77E0CA0A9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790" y="1810038"/>
            <a:ext cx="1865905" cy="1844386"/>
          </a:xfrm>
          <a:prstGeom prst="rect">
            <a:avLst/>
          </a:prstGeom>
        </p:spPr>
      </p:pic>
      <p:sp>
        <p:nvSpPr>
          <p:cNvPr id="11" name="Sottotitolo 5">
            <a:extLst>
              <a:ext uri="{FF2B5EF4-FFF2-40B4-BE49-F238E27FC236}">
                <a16:creationId xmlns:a16="http://schemas.microsoft.com/office/drawing/2014/main" id="{DB419E72-7483-3726-34EC-F1786B63CF5C}"/>
              </a:ext>
            </a:extLst>
          </p:cNvPr>
          <p:cNvSpPr txBox="1">
            <a:spLocks/>
          </p:cNvSpPr>
          <p:nvPr/>
        </p:nvSpPr>
        <p:spPr>
          <a:xfrm>
            <a:off x="7336221" y="5014945"/>
            <a:ext cx="4424855" cy="1331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t-IT" sz="2000" b="1" dirty="0"/>
              <a:t>Candidato:</a:t>
            </a:r>
            <a:r>
              <a:rPr lang="it-IT" sz="2000" dirty="0"/>
              <a:t> </a:t>
            </a:r>
          </a:p>
          <a:p>
            <a:pPr algn="r"/>
            <a:r>
              <a:rPr lang="it-IT" sz="2000" dirty="0"/>
              <a:t>Simone Pietro Razzetti</a:t>
            </a:r>
          </a:p>
          <a:p>
            <a:pPr algn="r"/>
            <a:r>
              <a:rPr lang="it-IT" sz="2000" dirty="0"/>
              <a:t>Matricola 898006</a:t>
            </a:r>
          </a:p>
          <a:p>
            <a:pPr algn="l"/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DD403BF-47E7-4465-8543-147A1C20D856}"/>
              </a:ext>
            </a:extLst>
          </p:cNvPr>
          <p:cNvSpPr txBox="1"/>
          <p:nvPr/>
        </p:nvSpPr>
        <p:spPr>
          <a:xfrm>
            <a:off x="3077378" y="6513873"/>
            <a:ext cx="6026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ANNO ACCADEMICO 2024/2025</a:t>
            </a:r>
          </a:p>
        </p:txBody>
      </p:sp>
    </p:spTree>
    <p:extLst>
      <p:ext uri="{BB962C8B-B14F-4D97-AF65-F5344CB8AC3E}">
        <p14:creationId xmlns:p14="http://schemas.microsoft.com/office/powerpoint/2010/main" val="3524850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99279E-A1FC-5324-EA55-C473EBA1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>
                <a:latin typeface="+mn-lt"/>
              </a:rPr>
              <a:t>Quantum Computing e Quantum </a:t>
            </a:r>
            <a:r>
              <a:rPr lang="it-IT" dirty="0" err="1">
                <a:latin typeface="+mn-lt"/>
              </a:rPr>
              <a:t>Error</a:t>
            </a:r>
            <a:r>
              <a:rPr lang="it-IT" dirty="0">
                <a:latin typeface="+mn-lt"/>
              </a:rPr>
              <a:t> </a:t>
            </a:r>
            <a:r>
              <a:rPr lang="it-IT" dirty="0" err="1">
                <a:latin typeface="+mn-lt"/>
              </a:rPr>
              <a:t>Correction</a:t>
            </a:r>
            <a:endParaRPr lang="it-IT" dirty="0">
              <a:latin typeface="+mn-lt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7FF2D87-9061-C5D8-3E27-929E42CD4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52" y="1368165"/>
            <a:ext cx="6977464" cy="435444"/>
          </a:xfrm>
        </p:spPr>
        <p:txBody>
          <a:bodyPr>
            <a:normAutofit/>
          </a:bodyPr>
          <a:lstStyle/>
          <a:p>
            <a:r>
              <a:rPr lang="it-IT" sz="1700" b="1" dirty="0" err="1"/>
              <a:t>Qubit</a:t>
            </a:r>
            <a:r>
              <a:rPr lang="it-IT" sz="1700" dirty="0"/>
              <a:t>: sistema quantistico a 2 livelli come estensione del </a:t>
            </a:r>
            <a:r>
              <a:rPr lang="it-IT" sz="1700" i="1" dirty="0"/>
              <a:t>bit</a:t>
            </a:r>
            <a:r>
              <a:rPr lang="it-IT" sz="1700" dirty="0"/>
              <a:t> classico </a:t>
            </a:r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sz="2000" dirty="0"/>
          </a:p>
        </p:txBody>
      </p:sp>
      <p:pic>
        <p:nvPicPr>
          <p:cNvPr id="5" name="Immagine 4" descr="Immagine che contiene nero, oscurità, Oggetto astronomico, Evento celeste&#10;&#10;Il contenuto generato dall'IA potrebbe non essere corretto.">
            <a:extLst>
              <a:ext uri="{FF2B5EF4-FFF2-40B4-BE49-F238E27FC236}">
                <a16:creationId xmlns:a16="http://schemas.microsoft.com/office/drawing/2014/main" id="{40982DBF-7CBC-F1C8-2B4C-1AFFA6F54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409" y="1210147"/>
            <a:ext cx="2069115" cy="2190827"/>
          </a:xfrm>
          <a:prstGeom prst="rect">
            <a:avLst/>
          </a:prstGeom>
        </p:spPr>
      </p:pic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350DDAE-8E55-1378-4C04-15F50A22B698}"/>
              </a:ext>
            </a:extLst>
          </p:cNvPr>
          <p:cNvSpPr txBox="1">
            <a:spLocks/>
          </p:cNvSpPr>
          <p:nvPr/>
        </p:nvSpPr>
        <p:spPr>
          <a:xfrm>
            <a:off x="6096000" y="4860088"/>
            <a:ext cx="6106160" cy="1453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700" b="1" dirty="0"/>
              <a:t>Ridondanza</a:t>
            </a:r>
            <a:r>
              <a:rPr lang="it-IT" sz="1700" dirty="0"/>
              <a:t>: un </a:t>
            </a:r>
            <a:r>
              <a:rPr lang="it-IT" sz="1700" dirty="0" err="1"/>
              <a:t>qubit</a:t>
            </a:r>
            <a:r>
              <a:rPr lang="it-IT" sz="1700" dirty="0"/>
              <a:t> logico attraverso più </a:t>
            </a:r>
            <a:r>
              <a:rPr lang="it-IT" sz="1700" dirty="0" err="1"/>
              <a:t>qubit</a:t>
            </a:r>
            <a:r>
              <a:rPr lang="it-IT" sz="1700" dirty="0"/>
              <a:t> fisici </a:t>
            </a:r>
          </a:p>
          <a:p>
            <a:r>
              <a:rPr lang="it-IT" sz="1700" b="1" dirty="0"/>
              <a:t>Misura non distruttiva</a:t>
            </a:r>
            <a:r>
              <a:rPr lang="it-IT" sz="1700" dirty="0"/>
              <a:t>: uso di opportuni operatori per rilevare  in maniera indiretta l’errore senza collassare lo stato</a:t>
            </a:r>
          </a:p>
          <a:p>
            <a:pPr marL="0" indent="0" algn="ctr">
              <a:buNone/>
            </a:pPr>
            <a:r>
              <a:rPr lang="it-IT" sz="1700" dirty="0">
                <a:sym typeface="Wingdings" panose="05000000000000000000" pitchFamily="2" charset="2"/>
              </a:rPr>
              <a:t>Codici a </a:t>
            </a:r>
            <a:r>
              <a:rPr lang="it-IT" sz="1700" b="1" dirty="0">
                <a:sym typeface="Wingdings" panose="05000000000000000000" pitchFamily="2" charset="2"/>
              </a:rPr>
              <a:t>Stabilizzatori</a:t>
            </a:r>
            <a:r>
              <a:rPr lang="it-IT" sz="1700" dirty="0">
                <a:sym typeface="Wingdings" panose="05000000000000000000" pitchFamily="2" charset="2"/>
              </a:rPr>
              <a:t> e misura della </a:t>
            </a:r>
            <a:r>
              <a:rPr lang="it-IT" sz="1700" b="1" dirty="0">
                <a:sym typeface="Wingdings" panose="05000000000000000000" pitchFamily="2" charset="2"/>
              </a:rPr>
              <a:t>Sindrome</a:t>
            </a:r>
            <a:r>
              <a:rPr lang="it-IT" sz="1700" dirty="0">
                <a:sym typeface="Wingdings" panose="05000000000000000000" pitchFamily="2" charset="2"/>
              </a:rPr>
              <a:t> </a:t>
            </a:r>
            <a:endParaRPr lang="it-IT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ttangolo con angoli arrotondati 8">
                <a:extLst>
                  <a:ext uri="{FF2B5EF4-FFF2-40B4-BE49-F238E27FC236}">
                    <a16:creationId xmlns:a16="http://schemas.microsoft.com/office/drawing/2014/main" id="{8B775C25-1657-A68E-0FA0-B6ED13DB46D6}"/>
                  </a:ext>
                </a:extLst>
              </p:cNvPr>
              <p:cNvSpPr/>
              <p:nvPr/>
            </p:nvSpPr>
            <p:spPr>
              <a:xfrm>
                <a:off x="838200" y="1877443"/>
                <a:ext cx="2174776" cy="4141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it-IT" sz="1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sz="1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it-IT" sz="1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it-IT" sz="1500" dirty="0"/>
              </a:p>
            </p:txBody>
          </p:sp>
        </mc:Choice>
        <mc:Fallback xmlns="">
          <p:sp>
            <p:nvSpPr>
              <p:cNvPr id="9" name="Rettangolo con angoli arrotondati 8">
                <a:extLst>
                  <a:ext uri="{FF2B5EF4-FFF2-40B4-BE49-F238E27FC236}">
                    <a16:creationId xmlns:a16="http://schemas.microsoft.com/office/drawing/2014/main" id="{8B775C25-1657-A68E-0FA0-B6ED13DB46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77443"/>
                <a:ext cx="2174776" cy="4141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3E7214A2-908A-4D2D-6AE8-47DB9F14DE6F}"/>
                  </a:ext>
                </a:extLst>
              </p:cNvPr>
              <p:cNvSpPr/>
              <p:nvPr/>
            </p:nvSpPr>
            <p:spPr>
              <a:xfrm>
                <a:off x="4292905" y="1875215"/>
                <a:ext cx="3715409" cy="41410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it-IT" sz="1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it-IT" sz="1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sz="1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it-IT" sz="15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it-IT" sz="15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it-IT" sz="15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  <m:r>
                        <a:rPr lang="it-IT" sz="1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|1⟩</m:t>
                      </m:r>
                    </m:oMath>
                  </m:oMathPara>
                </a14:m>
                <a:endParaRPr lang="it-IT" sz="1500" dirty="0"/>
              </a:p>
            </p:txBody>
          </p:sp>
        </mc:Choice>
        <mc:Fallback xmlns="">
          <p:sp>
            <p:nvSpPr>
              <p:cNvPr id="13" name="Rettangolo con angoli arrotondati 12">
                <a:extLst>
                  <a:ext uri="{FF2B5EF4-FFF2-40B4-BE49-F238E27FC236}">
                    <a16:creationId xmlns:a16="http://schemas.microsoft.com/office/drawing/2014/main" id="{3E7214A2-908A-4D2D-6AE8-47DB9F14D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905" y="1875215"/>
                <a:ext cx="3715409" cy="4141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reccia a destra 13">
            <a:extLst>
              <a:ext uri="{FF2B5EF4-FFF2-40B4-BE49-F238E27FC236}">
                <a16:creationId xmlns:a16="http://schemas.microsoft.com/office/drawing/2014/main" id="{E1B9E8C1-E01F-A1D7-A2EB-0D081033EE5B}"/>
              </a:ext>
            </a:extLst>
          </p:cNvPr>
          <p:cNvSpPr/>
          <p:nvPr/>
        </p:nvSpPr>
        <p:spPr>
          <a:xfrm>
            <a:off x="8511900" y="1958871"/>
            <a:ext cx="632100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D88528B-1EE3-5D56-2435-7207676C24D1}"/>
              </a:ext>
            </a:extLst>
          </p:cNvPr>
          <p:cNvSpPr txBox="1"/>
          <p:nvPr/>
        </p:nvSpPr>
        <p:spPr>
          <a:xfrm>
            <a:off x="253652" y="2547815"/>
            <a:ext cx="610616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b="1" dirty="0"/>
              <a:t>Potenzialità del calcolo quantistico:</a:t>
            </a:r>
            <a:r>
              <a:rPr lang="it-IT" sz="1700" dirty="0"/>
              <a:t> sovrapposizione degli stati, ossia parallelismo quantistico, ed entanglement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b="1" dirty="0"/>
              <a:t>Limite: </a:t>
            </a:r>
            <a:r>
              <a:rPr lang="it-IT" sz="1700" dirty="0"/>
              <a:t>fragilità dovuta a fenomeni di </a:t>
            </a:r>
            <a:r>
              <a:rPr lang="it-IT" sz="1700" dirty="0" err="1"/>
              <a:t>decoerenza</a:t>
            </a:r>
            <a:r>
              <a:rPr lang="it-IT" sz="1700" dirty="0"/>
              <a:t> ed errori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A2DA572C-DDAB-D528-9966-B8B0319569E7}"/>
              </a:ext>
            </a:extLst>
          </p:cNvPr>
          <p:cNvSpPr/>
          <p:nvPr/>
        </p:nvSpPr>
        <p:spPr>
          <a:xfrm>
            <a:off x="6684144" y="4112035"/>
            <a:ext cx="4436151" cy="610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200" dirty="0"/>
              <a:t>Quantum </a:t>
            </a:r>
            <a:r>
              <a:rPr lang="it-IT" sz="2200" dirty="0" err="1"/>
              <a:t>Error</a:t>
            </a:r>
            <a:r>
              <a:rPr lang="it-IT" sz="2200" dirty="0"/>
              <a:t> </a:t>
            </a:r>
            <a:r>
              <a:rPr lang="it-IT" sz="2200" dirty="0" err="1"/>
              <a:t>Correction</a:t>
            </a:r>
            <a:r>
              <a:rPr lang="it-IT" sz="2200" dirty="0"/>
              <a:t> (QEC) 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E1E09EA5-2024-B4C3-73BA-4E7216C3D8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10" r="1293"/>
          <a:stretch>
            <a:fillRect/>
          </a:stretch>
        </p:blipFill>
        <p:spPr>
          <a:xfrm>
            <a:off x="431271" y="3987927"/>
            <a:ext cx="5448914" cy="2183545"/>
          </a:xfrm>
          <a:prstGeom prst="rect">
            <a:avLst/>
          </a:prstGeom>
        </p:spPr>
      </p:pic>
      <p:sp>
        <p:nvSpPr>
          <p:cNvPr id="26" name="Freccia a destra 25">
            <a:extLst>
              <a:ext uri="{FF2B5EF4-FFF2-40B4-BE49-F238E27FC236}">
                <a16:creationId xmlns:a16="http://schemas.microsoft.com/office/drawing/2014/main" id="{3E417BCD-7F95-91AD-74AB-DB87F042FC85}"/>
              </a:ext>
            </a:extLst>
          </p:cNvPr>
          <p:cNvSpPr/>
          <p:nvPr/>
        </p:nvSpPr>
        <p:spPr>
          <a:xfrm>
            <a:off x="6527630" y="5871642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3" name="Connettore a gomito 32">
            <a:extLst>
              <a:ext uri="{FF2B5EF4-FFF2-40B4-BE49-F238E27FC236}">
                <a16:creationId xmlns:a16="http://schemas.microsoft.com/office/drawing/2014/main" id="{2B1867C4-32D3-8493-D360-784C2D2E3CA3}"/>
              </a:ext>
            </a:extLst>
          </p:cNvPr>
          <p:cNvCxnSpPr>
            <a:cxnSpLocks/>
          </p:cNvCxnSpPr>
          <p:nvPr/>
        </p:nvCxnSpPr>
        <p:spPr>
          <a:xfrm>
            <a:off x="6024880" y="3525520"/>
            <a:ext cx="2877339" cy="461121"/>
          </a:xfrm>
          <a:prstGeom prst="bentConnector3">
            <a:avLst>
              <a:gd name="adj1" fmla="val 99964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" name="Segnaposto data 44">
            <a:extLst>
              <a:ext uri="{FF2B5EF4-FFF2-40B4-BE49-F238E27FC236}">
                <a16:creationId xmlns:a16="http://schemas.microsoft.com/office/drawing/2014/main" id="{09B41B62-2F8F-F356-BDDC-5F385E50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46" name="Segnaposto piè di pagina 45">
            <a:extLst>
              <a:ext uri="{FF2B5EF4-FFF2-40B4-BE49-F238E27FC236}">
                <a16:creationId xmlns:a16="http://schemas.microsoft.com/office/drawing/2014/main" id="{FE53C741-17D9-FB18-E9D4-095B3C86B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47" name="Segnaposto numero diapositiva 46">
            <a:extLst>
              <a:ext uri="{FF2B5EF4-FFF2-40B4-BE49-F238E27FC236}">
                <a16:creationId xmlns:a16="http://schemas.microsoft.com/office/drawing/2014/main" id="{6527FFE7-52E8-D39C-9704-B7B48A108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07796F5-CBB1-8192-0E5B-CF4CBB3BFC8D}"/>
              </a:ext>
            </a:extLst>
          </p:cNvPr>
          <p:cNvSpPr txBox="1"/>
          <p:nvPr/>
        </p:nvSpPr>
        <p:spPr>
          <a:xfrm>
            <a:off x="3515360" y="1897599"/>
            <a:ext cx="272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3411FEF-C9C3-CAB6-41BA-F6BC3E2AF773}"/>
              </a:ext>
            </a:extLst>
          </p:cNvPr>
          <p:cNvSpPr txBox="1"/>
          <p:nvPr/>
        </p:nvSpPr>
        <p:spPr>
          <a:xfrm>
            <a:off x="9904579" y="3400974"/>
            <a:ext cx="13146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/>
              <a:t>Sfera di Bloch</a:t>
            </a: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408942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1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Segnaposto contenuto 4" descr="Immagine che contiene schermata, giallo, quadrato, Policromia&#10;&#10;Il contenuto generato dall'IA potrebbe non essere corretto.">
            <a:extLst>
              <a:ext uri="{FF2B5EF4-FFF2-40B4-BE49-F238E27FC236}">
                <a16:creationId xmlns:a16="http://schemas.microsoft.com/office/drawing/2014/main" id="{39D2DCFC-3AF1-0393-2B9C-5226FA117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87" r="34136"/>
          <a:stretch>
            <a:fillRect/>
          </a:stretch>
        </p:blipFill>
        <p:spPr>
          <a:xfrm>
            <a:off x="9769166" y="2684754"/>
            <a:ext cx="1808154" cy="1776180"/>
          </a:xfrm>
          <a:prstGeom prst="rect">
            <a:avLst/>
          </a:prstGeom>
        </p:spPr>
      </p:pic>
      <p:pic>
        <p:nvPicPr>
          <p:cNvPr id="49" name="Segnaposto contenuto 4" descr="Immagine che contiene schermata, giallo, quadrato, Policromia&#10;&#10;Il contenuto generato dall'IA potrebbe non essere corretto.">
            <a:extLst>
              <a:ext uri="{FF2B5EF4-FFF2-40B4-BE49-F238E27FC236}">
                <a16:creationId xmlns:a16="http://schemas.microsoft.com/office/drawing/2014/main" id="{DAE71FEA-4389-4E31-B811-074236063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24"/>
          <a:stretch>
            <a:fillRect/>
          </a:stretch>
        </p:blipFill>
        <p:spPr>
          <a:xfrm>
            <a:off x="9779961" y="2703043"/>
            <a:ext cx="1808154" cy="1776179"/>
          </a:xfrm>
          <a:prstGeom prst="rect">
            <a:avLst/>
          </a:prstGeom>
        </p:spPr>
      </p:pic>
      <p:pic>
        <p:nvPicPr>
          <p:cNvPr id="50" name="Segnaposto contenuto 4" descr="Immagine che contiene schermata, giallo, quadrato, Policromia&#10;&#10;Il contenuto generato dall'IA potrebbe non essere corretto.">
            <a:extLst>
              <a:ext uri="{FF2B5EF4-FFF2-40B4-BE49-F238E27FC236}">
                <a16:creationId xmlns:a16="http://schemas.microsoft.com/office/drawing/2014/main" id="{8BE45A38-0036-3C24-3520-8BAE67E45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24"/>
          <a:stretch>
            <a:fillRect/>
          </a:stretch>
        </p:blipFill>
        <p:spPr>
          <a:xfrm>
            <a:off x="9809798" y="2684753"/>
            <a:ext cx="1808154" cy="177617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B8855F5E-6103-71F5-00DE-D6545AEE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Surface Code e </a:t>
            </a:r>
            <a:r>
              <a:rPr lang="it-IT" i="1" dirty="0" err="1"/>
              <a:t>Decoding</a:t>
            </a:r>
            <a:r>
              <a:rPr lang="it-IT" i="1" dirty="0"/>
              <a:t> </a:t>
            </a:r>
            <a:r>
              <a:rPr lang="it-IT" i="1" dirty="0" err="1"/>
              <a:t>problem</a:t>
            </a:r>
            <a:endParaRPr lang="it-IT" i="1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18DCB59-8955-ED2F-0110-ACC8A098D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4023" y="5307792"/>
            <a:ext cx="5134403" cy="14693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1700" dirty="0"/>
              <a:t>Data la misura di una sindrome, individuare la configurazione di errore più probabile e suggerire operazioni correttive.</a:t>
            </a:r>
          </a:p>
          <a:p>
            <a:pPr marL="0" indent="0">
              <a:buNone/>
            </a:pPr>
            <a:endParaRPr lang="it-IT" sz="2000" dirty="0"/>
          </a:p>
          <a:p>
            <a:endParaRPr lang="it-IT" sz="2000" dirty="0"/>
          </a:p>
        </p:txBody>
      </p:sp>
      <p:pic>
        <p:nvPicPr>
          <p:cNvPr id="6" name="Immagine 5" descr="Immagine che contiene clipart&#10;&#10;Il contenuto generato dall'IA potrebbe non essere corretto.">
            <a:extLst>
              <a:ext uri="{FF2B5EF4-FFF2-40B4-BE49-F238E27FC236}">
                <a16:creationId xmlns:a16="http://schemas.microsoft.com/office/drawing/2014/main" id="{8F24686E-EB08-952B-0A2C-DBC92335E6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1" t="12299" r="47275" b="29452"/>
          <a:stretch>
            <a:fillRect/>
          </a:stretch>
        </p:blipFill>
        <p:spPr>
          <a:xfrm>
            <a:off x="632698" y="2705074"/>
            <a:ext cx="1995327" cy="1852112"/>
          </a:xfrm>
          <a:prstGeom prst="rect">
            <a:avLst/>
          </a:prstGeom>
        </p:spPr>
      </p:pic>
      <p:pic>
        <p:nvPicPr>
          <p:cNvPr id="11" name="Immagine 10" descr="Immagine che contiene clipart&#10;&#10;Il contenuto generato dall'IA potrebbe non essere corretto.">
            <a:extLst>
              <a:ext uri="{FF2B5EF4-FFF2-40B4-BE49-F238E27FC236}">
                <a16:creationId xmlns:a16="http://schemas.microsoft.com/office/drawing/2014/main" id="{DB73E898-52F8-DD5F-AECE-BABBB5F3B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8" t="76422" r="83588" b="1245"/>
          <a:stretch>
            <a:fillRect/>
          </a:stretch>
        </p:blipFill>
        <p:spPr>
          <a:xfrm>
            <a:off x="4029721" y="2884370"/>
            <a:ext cx="589671" cy="581157"/>
          </a:xfrm>
          <a:prstGeom prst="rect">
            <a:avLst/>
          </a:prstGeom>
        </p:spPr>
      </p:pic>
      <p:sp>
        <p:nvSpPr>
          <p:cNvPr id="12" name="Rectangle 1">
            <a:extLst>
              <a:ext uri="{FF2B5EF4-FFF2-40B4-BE49-F238E27FC236}">
                <a16:creationId xmlns:a16="http://schemas.microsoft.com/office/drawing/2014/main" id="{F1783A3C-7091-CADF-BF91-D778B494D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7A35FF9-A937-14F7-546E-4E390E775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t-IT"/>
          </a:p>
        </p:txBody>
      </p:sp>
      <p:pic>
        <p:nvPicPr>
          <p:cNvPr id="16" name="Immagine 15" descr="Immagine che contiene clipart&#10;&#10;Il contenuto generato dall'IA potrebbe non essere corretto.">
            <a:extLst>
              <a:ext uri="{FF2B5EF4-FFF2-40B4-BE49-F238E27FC236}">
                <a16:creationId xmlns:a16="http://schemas.microsoft.com/office/drawing/2014/main" id="{F4A87547-698B-DDCE-41D4-DA7428129A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46" t="8138" b="44250"/>
          <a:stretch>
            <a:fillRect/>
          </a:stretch>
        </p:blipFill>
        <p:spPr>
          <a:xfrm>
            <a:off x="6242110" y="2928646"/>
            <a:ext cx="1345933" cy="1366527"/>
          </a:xfrm>
          <a:prstGeom prst="rect">
            <a:avLst/>
          </a:prstGeom>
        </p:spPr>
      </p:pic>
      <p:pic>
        <p:nvPicPr>
          <p:cNvPr id="17" name="Immagine 16" descr="Immagine che contiene clipart&#10;&#10;Il contenuto generato dall'IA potrebbe non essere corretto.">
            <a:extLst>
              <a:ext uri="{FF2B5EF4-FFF2-40B4-BE49-F238E27FC236}">
                <a16:creationId xmlns:a16="http://schemas.microsoft.com/office/drawing/2014/main" id="{5C2495A7-FF67-3F1E-52A5-25FE2E5BC3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54" t="77046" r="64052" b="1440"/>
          <a:stretch>
            <a:fillRect/>
          </a:stretch>
        </p:blipFill>
        <p:spPr>
          <a:xfrm>
            <a:off x="4032816" y="3926721"/>
            <a:ext cx="568862" cy="559870"/>
          </a:xfrm>
          <a:prstGeom prst="rect">
            <a:avLst/>
          </a:prstGeom>
        </p:spPr>
      </p:pic>
      <p:sp>
        <p:nvSpPr>
          <p:cNvPr id="19" name="Segnaposto contenuto 2">
            <a:extLst>
              <a:ext uri="{FF2B5EF4-FFF2-40B4-BE49-F238E27FC236}">
                <a16:creationId xmlns:a16="http://schemas.microsoft.com/office/drawing/2014/main" id="{2EBCCCF0-9BD3-808C-30CD-1655BB748491}"/>
              </a:ext>
            </a:extLst>
          </p:cNvPr>
          <p:cNvSpPr txBox="1">
            <a:spLocks/>
          </p:cNvSpPr>
          <p:nvPr/>
        </p:nvSpPr>
        <p:spPr>
          <a:xfrm>
            <a:off x="1248079" y="1198376"/>
            <a:ext cx="9988061" cy="690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1700" b="1" dirty="0"/>
              <a:t>Codici topologici</a:t>
            </a:r>
            <a:r>
              <a:rPr lang="it-IT" sz="1700" dirty="0"/>
              <a:t>: informazione logica distribuita nello spazio e protetta dalle proprietà globali del sistema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C848C907-B645-77C6-FED7-6C1C7C313FCA}"/>
              </a:ext>
            </a:extLst>
          </p:cNvPr>
          <p:cNvSpPr/>
          <p:nvPr/>
        </p:nvSpPr>
        <p:spPr>
          <a:xfrm>
            <a:off x="4298719" y="1747589"/>
            <a:ext cx="3458756" cy="5049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/>
              <a:t>Surface Code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AD1F4F86-8B93-EAC5-067D-59A7BAECFABD}"/>
              </a:ext>
            </a:extLst>
          </p:cNvPr>
          <p:cNvSpPr txBox="1"/>
          <p:nvPr/>
        </p:nvSpPr>
        <p:spPr>
          <a:xfrm>
            <a:off x="874609" y="2289901"/>
            <a:ext cx="1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Struttura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AD572EC1-0F64-C89B-5A4C-BF6D9E1BA738}"/>
              </a:ext>
            </a:extLst>
          </p:cNvPr>
          <p:cNvSpPr txBox="1"/>
          <p:nvPr/>
        </p:nvSpPr>
        <p:spPr>
          <a:xfrm>
            <a:off x="3613366" y="2481438"/>
            <a:ext cx="151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Stabilizzatori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FFFFEFEB-6316-F007-CAC6-80BCFDC5CB1C}"/>
              </a:ext>
            </a:extLst>
          </p:cNvPr>
          <p:cNvSpPr txBox="1"/>
          <p:nvPr/>
        </p:nvSpPr>
        <p:spPr>
          <a:xfrm>
            <a:off x="6765143" y="2620337"/>
            <a:ext cx="170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Operatori logici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F8C0463-9E40-004B-0A34-779DAACACAB5}"/>
              </a:ext>
            </a:extLst>
          </p:cNvPr>
          <p:cNvSpPr txBox="1"/>
          <p:nvPr/>
        </p:nvSpPr>
        <p:spPr>
          <a:xfrm>
            <a:off x="9941211" y="2289901"/>
            <a:ext cx="1702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i="1" dirty="0"/>
              <a:t>Sindrome</a:t>
            </a:r>
          </a:p>
        </p:txBody>
      </p:sp>
      <p:pic>
        <p:nvPicPr>
          <p:cNvPr id="30" name="Immagine 29" descr="Immagine che contiene clipart&#10;&#10;Il contenuto generato dall'IA potrebbe non essere corretto.">
            <a:extLst>
              <a:ext uri="{FF2B5EF4-FFF2-40B4-BE49-F238E27FC236}">
                <a16:creationId xmlns:a16="http://schemas.microsoft.com/office/drawing/2014/main" id="{7FE39676-A2E2-B087-68F9-AB061E74B1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46" t="55749"/>
          <a:stretch>
            <a:fillRect/>
          </a:stretch>
        </p:blipFill>
        <p:spPr>
          <a:xfrm>
            <a:off x="7644391" y="2990697"/>
            <a:ext cx="1345933" cy="1270037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406D243A-5285-5202-0F57-288029DF850B}"/>
              </a:ext>
            </a:extLst>
          </p:cNvPr>
          <p:cNvSpPr txBox="1"/>
          <p:nvPr/>
        </p:nvSpPr>
        <p:spPr>
          <a:xfrm>
            <a:off x="3508576" y="4405534"/>
            <a:ext cx="161629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Sensibile a </a:t>
            </a:r>
            <a:r>
              <a:rPr lang="it-IT" sz="1300" i="1" dirty="0" err="1"/>
              <a:t>phase</a:t>
            </a:r>
            <a:r>
              <a:rPr lang="it-IT" sz="1300" i="1" dirty="0"/>
              <a:t>-flip</a:t>
            </a:r>
            <a:r>
              <a:rPr lang="it-IT" sz="1300" dirty="0"/>
              <a:t> (Pauli Z)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E83BBB2-D515-A20F-42BC-4AF176D372E3}"/>
              </a:ext>
            </a:extLst>
          </p:cNvPr>
          <p:cNvSpPr txBox="1"/>
          <p:nvPr/>
        </p:nvSpPr>
        <p:spPr>
          <a:xfrm>
            <a:off x="3619155" y="3380802"/>
            <a:ext cx="13951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300" dirty="0"/>
              <a:t>Sensibile a </a:t>
            </a:r>
            <a:r>
              <a:rPr lang="it-IT" sz="1300" i="1" dirty="0"/>
              <a:t>bit-flip </a:t>
            </a:r>
            <a:r>
              <a:rPr lang="it-IT" sz="1300" dirty="0"/>
              <a:t>(Pauli X)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4E9F4FD-B798-CDE7-65A8-A124B5AE0EC1}"/>
              </a:ext>
            </a:extLst>
          </p:cNvPr>
          <p:cNvSpPr txBox="1"/>
          <p:nvPr/>
        </p:nvSpPr>
        <p:spPr>
          <a:xfrm>
            <a:off x="6797211" y="4215422"/>
            <a:ext cx="349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X</a:t>
            </a:r>
            <a:r>
              <a:rPr lang="it-IT" sz="1600" baseline="-25000" dirty="0"/>
              <a:t>L</a:t>
            </a:r>
            <a:endParaRPr lang="it-IT" sz="1600" dirty="0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B70FC62D-E723-DAF8-62EC-049B704A1205}"/>
              </a:ext>
            </a:extLst>
          </p:cNvPr>
          <p:cNvSpPr txBox="1"/>
          <p:nvPr/>
        </p:nvSpPr>
        <p:spPr>
          <a:xfrm>
            <a:off x="8206229" y="4219522"/>
            <a:ext cx="3491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Z</a:t>
            </a:r>
            <a:r>
              <a:rPr lang="it-IT" sz="1600" baseline="-25000" dirty="0"/>
              <a:t>L</a:t>
            </a:r>
            <a:endParaRPr lang="it-IT" sz="1600" dirty="0"/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F6D93154-5C4E-8EDD-871C-366E25FFDA7E}"/>
              </a:ext>
            </a:extLst>
          </p:cNvPr>
          <p:cNvSpPr/>
          <p:nvPr/>
        </p:nvSpPr>
        <p:spPr>
          <a:xfrm>
            <a:off x="7915025" y="4775614"/>
            <a:ext cx="2692398" cy="4244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i="1" dirty="0" err="1"/>
              <a:t>Decoding</a:t>
            </a:r>
            <a:r>
              <a:rPr lang="it-IT" sz="2000" i="1" dirty="0"/>
              <a:t> </a:t>
            </a:r>
            <a:r>
              <a:rPr lang="it-IT" sz="2000" i="1" dirty="0" err="1"/>
              <a:t>problem</a:t>
            </a:r>
            <a:endParaRPr lang="it-IT" sz="2400" i="1" dirty="0"/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812C3117-F441-41A5-3C26-C395D1180080}"/>
              </a:ext>
            </a:extLst>
          </p:cNvPr>
          <p:cNvSpPr txBox="1"/>
          <p:nvPr/>
        </p:nvSpPr>
        <p:spPr>
          <a:xfrm>
            <a:off x="498614" y="4957348"/>
            <a:ext cx="741641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dirty="0"/>
              <a:t>Vantaggi: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Soglia di errore (tolleranza al rumore) alta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Scalabilità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Compatibilità con le tecnologie hardware attuali</a:t>
            </a:r>
          </a:p>
        </p:txBody>
      </p:sp>
      <p:sp>
        <p:nvSpPr>
          <p:cNvPr id="55" name="Segnaposto data 54">
            <a:extLst>
              <a:ext uri="{FF2B5EF4-FFF2-40B4-BE49-F238E27FC236}">
                <a16:creationId xmlns:a16="http://schemas.microsoft.com/office/drawing/2014/main" id="{CED3E94E-4D4F-6F86-7B4C-BC9C2EF4A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6" name="Segnaposto piè di pagina 55">
            <a:extLst>
              <a:ext uri="{FF2B5EF4-FFF2-40B4-BE49-F238E27FC236}">
                <a16:creationId xmlns:a16="http://schemas.microsoft.com/office/drawing/2014/main" id="{A571062B-37A3-C7F8-2B16-65DE31A7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Sviluppo di un decoder basato su </a:t>
            </a:r>
            <a:r>
              <a:rPr lang="it-IT" dirty="0" err="1"/>
              <a:t>Reinforcement</a:t>
            </a:r>
            <a:r>
              <a:rPr lang="it-IT" dirty="0"/>
              <a:t> Learning per Quantum </a:t>
            </a:r>
            <a:r>
              <a:rPr lang="it-IT" dirty="0" err="1"/>
              <a:t>Error</a:t>
            </a:r>
            <a:r>
              <a:rPr lang="it-IT" dirty="0"/>
              <a:t> </a:t>
            </a:r>
            <a:r>
              <a:rPr lang="it-IT" dirty="0" err="1"/>
              <a:t>Correction</a:t>
            </a:r>
            <a:endParaRPr lang="it-IT" dirty="0"/>
          </a:p>
        </p:txBody>
      </p:sp>
      <p:sp>
        <p:nvSpPr>
          <p:cNvPr id="57" name="Segnaposto numero diapositiva 56">
            <a:extLst>
              <a:ext uri="{FF2B5EF4-FFF2-40B4-BE49-F238E27FC236}">
                <a16:creationId xmlns:a16="http://schemas.microsoft.com/office/drawing/2014/main" id="{23692D3F-7EF4-6A7F-35D1-85144B0B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2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68FBEDE-D144-DDA6-1BF5-514A3C0E5126}"/>
              </a:ext>
            </a:extLst>
          </p:cNvPr>
          <p:cNvSpPr txBox="1"/>
          <p:nvPr/>
        </p:nvSpPr>
        <p:spPr>
          <a:xfrm>
            <a:off x="-23914" y="6149380"/>
            <a:ext cx="7096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[</a:t>
            </a:r>
            <a:r>
              <a:rPr lang="it-IT" sz="1400" i="1" dirty="0"/>
              <a:t>Google Quantum AI, Quantum </a:t>
            </a:r>
            <a:r>
              <a:rPr lang="it-IT" sz="1400" i="1" dirty="0" err="1"/>
              <a:t>error</a:t>
            </a:r>
            <a:r>
              <a:rPr lang="it-IT" sz="1400" i="1" dirty="0"/>
              <a:t> </a:t>
            </a:r>
            <a:r>
              <a:rPr lang="it-IT" sz="1400" i="1" dirty="0" err="1"/>
              <a:t>correction</a:t>
            </a:r>
            <a:r>
              <a:rPr lang="it-IT" sz="1400" i="1" dirty="0"/>
              <a:t> </a:t>
            </a:r>
            <a:r>
              <a:rPr lang="it-IT" sz="1400" i="1" dirty="0" err="1"/>
              <a:t>below</a:t>
            </a:r>
            <a:r>
              <a:rPr lang="it-IT" sz="1400" i="1" dirty="0"/>
              <a:t> the </a:t>
            </a:r>
            <a:r>
              <a:rPr lang="it-IT" sz="1400" i="1" dirty="0" err="1"/>
              <a:t>surface</a:t>
            </a:r>
            <a:r>
              <a:rPr lang="it-IT" sz="1400" i="1" dirty="0"/>
              <a:t> code </a:t>
            </a:r>
            <a:r>
              <a:rPr lang="it-IT" sz="1400" i="1" dirty="0" err="1"/>
              <a:t>threshold</a:t>
            </a:r>
            <a:r>
              <a:rPr lang="it-IT" sz="1400" i="1" dirty="0"/>
              <a:t>, Nature, 2025]</a:t>
            </a:r>
            <a:endParaRPr lang="it-IT" sz="140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4557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1" grpId="0" animBg="1"/>
      <p:bldP spid="5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7E7393-F7F4-B585-1A97-04DE4180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Problema, Obiettivi e Metodi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790A0E7-10AD-4A10-01BA-003828837EB6}"/>
              </a:ext>
            </a:extLst>
          </p:cNvPr>
          <p:cNvSpPr txBox="1"/>
          <p:nvPr/>
        </p:nvSpPr>
        <p:spPr>
          <a:xfrm>
            <a:off x="461650" y="1270000"/>
            <a:ext cx="3485106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 err="1"/>
              <a:t>Decoding</a:t>
            </a:r>
            <a:r>
              <a:rPr lang="it-IT" b="1" i="1" dirty="0"/>
              <a:t> </a:t>
            </a:r>
            <a:r>
              <a:rPr lang="it-IT" b="1" i="1" dirty="0" err="1"/>
              <a:t>Problem</a:t>
            </a:r>
            <a:endParaRPr lang="it-IT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Rumore complesso e non ideale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Correzione </a:t>
            </a:r>
            <a:r>
              <a:rPr lang="it-IT" sz="1700" i="1" dirty="0"/>
              <a:t>online</a:t>
            </a:r>
            <a:endParaRPr lang="it-IT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Scalabilità per codici grandi</a:t>
            </a:r>
          </a:p>
        </p:txBody>
      </p:sp>
      <p:pic>
        <p:nvPicPr>
          <p:cNvPr id="17" name="Immagine 16" descr="Immagine che contiene testo, linea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6C534225-E1A8-5DBA-A910-BDE0BB93A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852" y="3442367"/>
            <a:ext cx="5184735" cy="1998521"/>
          </a:xfrm>
          <a:prstGeom prst="rect">
            <a:avLst/>
          </a:prstGeom>
        </p:spPr>
      </p:pic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4FE98B3E-D708-A621-C449-179CF77534EC}"/>
              </a:ext>
            </a:extLst>
          </p:cNvPr>
          <p:cNvSpPr/>
          <p:nvPr/>
        </p:nvSpPr>
        <p:spPr>
          <a:xfrm>
            <a:off x="640773" y="2680741"/>
            <a:ext cx="10910454" cy="7348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chemeClr val="tx1"/>
                </a:solidFill>
              </a:rPr>
              <a:t>OBIETTIVO I:</a:t>
            </a:r>
            <a:r>
              <a:rPr lang="it-IT" dirty="0">
                <a:solidFill>
                  <a:schemeClr val="tx1"/>
                </a:solidFill>
              </a:rPr>
              <a:t> Sviluppo di un decoder basato sul paradigma di </a:t>
            </a:r>
            <a:r>
              <a:rPr lang="it-IT" b="1" dirty="0" err="1">
                <a:solidFill>
                  <a:schemeClr val="tx1"/>
                </a:solidFill>
              </a:rPr>
              <a:t>Reinforcement</a:t>
            </a:r>
            <a:r>
              <a:rPr lang="it-IT" b="1" dirty="0">
                <a:solidFill>
                  <a:schemeClr val="tx1"/>
                </a:solidFill>
              </a:rPr>
              <a:t> Learning (RL) </a:t>
            </a:r>
            <a:r>
              <a:rPr lang="it-IT" dirty="0">
                <a:solidFill>
                  <a:schemeClr val="tx1"/>
                </a:solidFill>
              </a:rPr>
              <a:t>per decodifica di</a:t>
            </a:r>
            <a:br>
              <a:rPr lang="it-IT" dirty="0">
                <a:solidFill>
                  <a:schemeClr val="tx1"/>
                </a:solidFill>
              </a:rPr>
            </a:br>
            <a:r>
              <a:rPr lang="it-IT" dirty="0">
                <a:solidFill>
                  <a:schemeClr val="tx1"/>
                </a:solidFill>
              </a:rPr>
              <a:t>                        sindromi relative a Surface Code affette da errori di misura (</a:t>
            </a:r>
            <a:r>
              <a:rPr lang="it-IT" i="1" dirty="0" err="1">
                <a:solidFill>
                  <a:schemeClr val="tx1"/>
                </a:solidFill>
              </a:rPr>
              <a:t>faulty</a:t>
            </a:r>
            <a:r>
              <a:rPr lang="it-IT" i="1" dirty="0">
                <a:solidFill>
                  <a:schemeClr val="tx1"/>
                </a:solidFill>
              </a:rPr>
              <a:t>)</a:t>
            </a:r>
            <a:endParaRPr lang="it-IT" dirty="0">
              <a:solidFill>
                <a:schemeClr val="tx1"/>
              </a:solidFill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33FD4F04-8982-425E-35CB-8FF196EC6907}"/>
              </a:ext>
            </a:extLst>
          </p:cNvPr>
          <p:cNvSpPr/>
          <p:nvPr/>
        </p:nvSpPr>
        <p:spPr>
          <a:xfrm>
            <a:off x="640773" y="5738008"/>
            <a:ext cx="10910454" cy="52560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b="1" dirty="0">
                <a:solidFill>
                  <a:schemeClr val="tx1"/>
                </a:solidFill>
              </a:rPr>
              <a:t>OBIETTIVO II:</a:t>
            </a:r>
            <a:r>
              <a:rPr lang="it-IT" dirty="0">
                <a:solidFill>
                  <a:schemeClr val="tx1"/>
                </a:solidFill>
              </a:rPr>
              <a:t> Studio degli effetti di </a:t>
            </a:r>
            <a:r>
              <a:rPr lang="it-IT" b="1" dirty="0" err="1">
                <a:solidFill>
                  <a:schemeClr val="tx1"/>
                </a:solidFill>
              </a:rPr>
              <a:t>Continual</a:t>
            </a:r>
            <a:r>
              <a:rPr lang="it-IT" b="1" dirty="0">
                <a:solidFill>
                  <a:schemeClr val="tx1"/>
                </a:solidFill>
              </a:rPr>
              <a:t> Learning </a:t>
            </a:r>
            <a:r>
              <a:rPr lang="it-IT" dirty="0">
                <a:solidFill>
                  <a:schemeClr val="tx1"/>
                </a:solidFill>
              </a:rPr>
              <a:t>per l’adattabilità e riduzione dei costi di </a:t>
            </a:r>
            <a:r>
              <a:rPr lang="it-IT" dirty="0" err="1">
                <a:solidFill>
                  <a:schemeClr val="tx1"/>
                </a:solidFill>
              </a:rPr>
              <a:t>ri</a:t>
            </a:r>
            <a:r>
              <a:rPr lang="it-IT" dirty="0">
                <a:solidFill>
                  <a:schemeClr val="tx1"/>
                </a:solidFill>
              </a:rPr>
              <a:t>-addestramento. </a:t>
            </a:r>
            <a:endParaRPr lang="it-IT" b="1" dirty="0">
              <a:solidFill>
                <a:schemeClr val="tx1"/>
              </a:solidFill>
            </a:endParaRPr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46F27D84-AE82-F026-95F7-90724790A08B}"/>
              </a:ext>
            </a:extLst>
          </p:cNvPr>
          <p:cNvSpPr/>
          <p:nvPr/>
        </p:nvSpPr>
        <p:spPr>
          <a:xfrm>
            <a:off x="4145815" y="1759326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F1899E77-D76E-25D6-3982-3AD3A1A0AE94}"/>
              </a:ext>
            </a:extLst>
          </p:cNvPr>
          <p:cNvSpPr txBox="1"/>
          <p:nvPr/>
        </p:nvSpPr>
        <p:spPr>
          <a:xfrm>
            <a:off x="4735193" y="1304467"/>
            <a:ext cx="314320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Limiti dell’approccio classico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Lento per codici grandi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Adatto a modelli semplici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Statico: no </a:t>
            </a:r>
            <a:r>
              <a:rPr lang="it-IT" sz="1700" i="1" dirty="0" err="1"/>
              <a:t>faulty</a:t>
            </a:r>
            <a:r>
              <a:rPr lang="it-IT" sz="1700" i="1" dirty="0"/>
              <a:t> </a:t>
            </a:r>
            <a:r>
              <a:rPr lang="it-IT" sz="1700" i="1" dirty="0" err="1"/>
              <a:t>syndrome</a:t>
            </a:r>
            <a:endParaRPr lang="it-IT" sz="170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B3BE90D-0C63-9AF0-064F-D924FC3FAC29}"/>
              </a:ext>
            </a:extLst>
          </p:cNvPr>
          <p:cNvSpPr txBox="1"/>
          <p:nvPr/>
        </p:nvSpPr>
        <p:spPr>
          <a:xfrm>
            <a:off x="8666832" y="1270000"/>
            <a:ext cx="3272562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Metodi di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Veloce </a:t>
            </a:r>
            <a:r>
              <a:rPr lang="it-IT" sz="1700" i="1" dirty="0"/>
              <a:t>online </a:t>
            </a:r>
            <a:r>
              <a:rPr lang="it-IT" sz="1700" dirty="0"/>
              <a:t>e più scalabile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Generalizzabile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dirty="0"/>
              <a:t>Dinamico</a:t>
            </a:r>
          </a:p>
        </p:txBody>
      </p:sp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16C3E35D-2195-514F-0FCE-5201F64ECF28}"/>
              </a:ext>
            </a:extLst>
          </p:cNvPr>
          <p:cNvSpPr/>
          <p:nvPr/>
        </p:nvSpPr>
        <p:spPr>
          <a:xfrm>
            <a:off x="8077454" y="1764252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EF6DD394-B5A4-E7EA-5085-8F322F667CD4}"/>
              </a:ext>
            </a:extLst>
          </p:cNvPr>
          <p:cNvSpPr txBox="1"/>
          <p:nvPr/>
        </p:nvSpPr>
        <p:spPr>
          <a:xfrm>
            <a:off x="268610" y="3591579"/>
            <a:ext cx="65652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Processo Decisionale di Markov (MDP)</a:t>
            </a:r>
          </a:p>
          <a:p>
            <a:pPr algn="ctr"/>
            <a:r>
              <a:rPr lang="it-IT" sz="1600" dirty="0"/>
              <a:t>L’</a:t>
            </a:r>
            <a:r>
              <a:rPr lang="it-IT" sz="1600" b="1" dirty="0"/>
              <a:t>agente</a:t>
            </a:r>
            <a:r>
              <a:rPr lang="it-IT" sz="1600" dirty="0"/>
              <a:t> (</a:t>
            </a:r>
            <a:r>
              <a:rPr lang="it-IT" sz="1600" i="1" dirty="0"/>
              <a:t>decoder</a:t>
            </a:r>
            <a:r>
              <a:rPr lang="it-IT" sz="1600" dirty="0"/>
              <a:t>) impara a prendere </a:t>
            </a:r>
            <a:r>
              <a:rPr lang="it-IT" sz="1600" b="1" dirty="0"/>
              <a:t>decisioni sequenziali ottimali </a:t>
            </a:r>
            <a:r>
              <a:rPr lang="it-IT" sz="1600" dirty="0"/>
              <a:t>(</a:t>
            </a:r>
            <a:r>
              <a:rPr lang="it-IT" sz="1600" i="1" dirty="0"/>
              <a:t>correzioni</a:t>
            </a:r>
            <a:r>
              <a:rPr lang="it-IT" sz="1600" dirty="0"/>
              <a:t>)  interagendo con un </a:t>
            </a:r>
            <a:r>
              <a:rPr lang="it-IT" sz="1600" b="1" dirty="0"/>
              <a:t>ambiente</a:t>
            </a:r>
            <a:r>
              <a:rPr lang="it-IT" sz="1600" dirty="0"/>
              <a:t> (</a:t>
            </a:r>
            <a:r>
              <a:rPr lang="it-IT" sz="1600" i="1" dirty="0"/>
              <a:t>Surface Code</a:t>
            </a:r>
            <a:r>
              <a:rPr lang="it-IT" sz="1600" dirty="0"/>
              <a:t>) per massimizzare una </a:t>
            </a:r>
            <a:r>
              <a:rPr lang="it-IT" sz="1600" b="1" dirty="0"/>
              <a:t>ricompensa</a:t>
            </a:r>
            <a:r>
              <a:rPr lang="it-IT" sz="1600" dirty="0"/>
              <a:t> (</a:t>
            </a:r>
            <a:r>
              <a:rPr lang="it-IT" sz="1600" i="1" dirty="0"/>
              <a:t>riduzione dell’errore logico</a:t>
            </a:r>
            <a:r>
              <a:rPr lang="it-IT" sz="1600" dirty="0"/>
              <a:t>).</a:t>
            </a:r>
          </a:p>
          <a:p>
            <a:endParaRPr lang="it-IT" dirty="0"/>
          </a:p>
        </p:txBody>
      </p:sp>
      <p:sp>
        <p:nvSpPr>
          <p:cNvPr id="29" name="Freccia a destra 28">
            <a:extLst>
              <a:ext uri="{FF2B5EF4-FFF2-40B4-BE49-F238E27FC236}">
                <a16:creationId xmlns:a16="http://schemas.microsoft.com/office/drawing/2014/main" id="{696CF1C7-A82F-5B55-B66B-55A985D51DB2}"/>
              </a:ext>
            </a:extLst>
          </p:cNvPr>
          <p:cNvSpPr/>
          <p:nvPr/>
        </p:nvSpPr>
        <p:spPr>
          <a:xfrm>
            <a:off x="860280" y="5132931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8CE82EA-59B5-8745-F6B2-FAC2888643BF}"/>
              </a:ext>
            </a:extLst>
          </p:cNvPr>
          <p:cNvSpPr txBox="1"/>
          <p:nvPr/>
        </p:nvSpPr>
        <p:spPr>
          <a:xfrm>
            <a:off x="1354388" y="5050790"/>
            <a:ext cx="5184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Limite</a:t>
            </a:r>
            <a:r>
              <a:rPr lang="it-IT" dirty="0"/>
              <a:t>: decoder presto inefficace in ambienti variabili</a:t>
            </a:r>
          </a:p>
        </p:txBody>
      </p:sp>
      <p:sp>
        <p:nvSpPr>
          <p:cNvPr id="33" name="Segnaposto data 32">
            <a:extLst>
              <a:ext uri="{FF2B5EF4-FFF2-40B4-BE49-F238E27FC236}">
                <a16:creationId xmlns:a16="http://schemas.microsoft.com/office/drawing/2014/main" id="{31E307BD-AF9B-9992-5787-0775FB751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34" name="Segnaposto piè di pagina 33">
            <a:extLst>
              <a:ext uri="{FF2B5EF4-FFF2-40B4-BE49-F238E27FC236}">
                <a16:creationId xmlns:a16="http://schemas.microsoft.com/office/drawing/2014/main" id="{A31B2674-464E-A88B-C8BA-C2C143B6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35" name="Segnaposto numero diapositiva 34">
            <a:extLst>
              <a:ext uri="{FF2B5EF4-FFF2-40B4-BE49-F238E27FC236}">
                <a16:creationId xmlns:a16="http://schemas.microsoft.com/office/drawing/2014/main" id="{95E4D4A9-C4F4-353A-16C9-302BAB80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88665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8" grpId="0"/>
      <p:bldP spid="29" grpId="0" animBg="1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38194C-E369-DD9E-FEE3-3FE1C37DC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Deep RL: Double Deep Q-Network (DDQN)</a:t>
            </a:r>
          </a:p>
        </p:txBody>
      </p:sp>
      <p:pic>
        <p:nvPicPr>
          <p:cNvPr id="5" name="Immagine 4" descr="Immagine che contiene calcolatore, illustrazione, design&#10;&#10;Il contenuto generato dall'IA potrebbe non essere corretto.">
            <a:extLst>
              <a:ext uri="{FF2B5EF4-FFF2-40B4-BE49-F238E27FC236}">
                <a16:creationId xmlns:a16="http://schemas.microsoft.com/office/drawing/2014/main" id="{3C3862EB-32B3-2464-A7AF-C077C4CC3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826" y="2703298"/>
            <a:ext cx="5039868" cy="18842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tangolo con angoli arrotondati 7">
                <a:extLst>
                  <a:ext uri="{FF2B5EF4-FFF2-40B4-BE49-F238E27FC236}">
                    <a16:creationId xmlns:a16="http://schemas.microsoft.com/office/drawing/2014/main" id="{94BD12AF-48F3-B389-15FC-9868454DF4B4}"/>
                  </a:ext>
                </a:extLst>
              </p:cNvPr>
              <p:cNvSpPr/>
              <p:nvPr/>
            </p:nvSpPr>
            <p:spPr>
              <a:xfrm>
                <a:off x="7183120" y="1380366"/>
                <a:ext cx="4437114" cy="549275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dirty="0">
                    <a:solidFill>
                      <a:schemeClr val="tx1"/>
                    </a:solidFill>
                  </a:rPr>
                  <a:t>Stima della </a:t>
                </a:r>
                <a:r>
                  <a:rPr lang="it-IT" b="1" dirty="0">
                    <a:solidFill>
                      <a:schemeClr val="tx1"/>
                    </a:solidFill>
                  </a:rPr>
                  <a:t>funzione valore 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it-IT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ttangolo con angoli arrotondati 7">
                <a:extLst>
                  <a:ext uri="{FF2B5EF4-FFF2-40B4-BE49-F238E27FC236}">
                    <a16:creationId xmlns:a16="http://schemas.microsoft.com/office/drawing/2014/main" id="{94BD12AF-48F3-B389-15FC-9868454DF4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120" y="1380366"/>
                <a:ext cx="4437114" cy="54927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80D2DE7E-3149-C497-BF4E-EB46ABDAF899}"/>
              </a:ext>
            </a:extLst>
          </p:cNvPr>
          <p:cNvSpPr txBox="1"/>
          <p:nvPr/>
        </p:nvSpPr>
        <p:spPr>
          <a:xfrm>
            <a:off x="498989" y="1468295"/>
            <a:ext cx="5747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Obiettivo dell’addestramento RL:</a:t>
            </a:r>
            <a:r>
              <a:rPr lang="it-IT" dirty="0"/>
              <a:t> trovare la </a:t>
            </a:r>
            <a:r>
              <a:rPr lang="it-IT" i="1" dirty="0"/>
              <a:t>policy</a:t>
            </a:r>
            <a:r>
              <a:rPr lang="it-IT" dirty="0"/>
              <a:t> ottimale</a:t>
            </a:r>
          </a:p>
          <a:p>
            <a:r>
              <a:rPr lang="it-IT" dirty="0"/>
              <a:t> 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244832B0-C6C3-EDA4-09C6-029D3E12D815}"/>
              </a:ext>
            </a:extLst>
          </p:cNvPr>
          <p:cNvSpPr/>
          <p:nvPr/>
        </p:nvSpPr>
        <p:spPr>
          <a:xfrm>
            <a:off x="6427960" y="1547472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B369692-4572-5375-85B3-26D13070ABB0}"/>
              </a:ext>
            </a:extLst>
          </p:cNvPr>
          <p:cNvSpPr txBox="1"/>
          <p:nvPr/>
        </p:nvSpPr>
        <p:spPr>
          <a:xfrm>
            <a:off x="1038080" y="3309408"/>
            <a:ext cx="20828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700" b="1" dirty="0"/>
              <a:t>Input:</a:t>
            </a:r>
            <a:endParaRPr lang="it-IT" sz="1700" dirty="0"/>
          </a:p>
          <a:p>
            <a:pPr algn="ctr"/>
            <a:r>
              <a:rPr lang="it-IT" sz="1700" dirty="0"/>
              <a:t>Sindrome </a:t>
            </a:r>
            <a:r>
              <a:rPr lang="it-IT" sz="1700" i="1" dirty="0"/>
              <a:t>dinamica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0B1DB6A-16A0-3AE4-BD23-FEB588BC0487}"/>
              </a:ext>
            </a:extLst>
          </p:cNvPr>
          <p:cNvSpPr txBox="1"/>
          <p:nvPr/>
        </p:nvSpPr>
        <p:spPr>
          <a:xfrm>
            <a:off x="8973040" y="3045238"/>
            <a:ext cx="22352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700" b="1" dirty="0"/>
              <a:t>Output:</a:t>
            </a:r>
            <a:endParaRPr lang="it-IT" sz="1700" dirty="0"/>
          </a:p>
          <a:p>
            <a:pPr algn="ctr"/>
            <a:r>
              <a:rPr lang="it-IT" sz="1700" dirty="0"/>
              <a:t>Stima del valore di ciascun azione (correzione possibile)</a:t>
            </a:r>
            <a:endParaRPr lang="it-IT" sz="1700" i="1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87E3AA2-7D48-1D4C-C4EF-2B5D49B2DCB9}"/>
              </a:ext>
            </a:extLst>
          </p:cNvPr>
          <p:cNvSpPr txBox="1"/>
          <p:nvPr/>
        </p:nvSpPr>
        <p:spPr>
          <a:xfrm>
            <a:off x="3323826" y="2300811"/>
            <a:ext cx="5039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Rete Neurale </a:t>
            </a:r>
            <a:r>
              <a:rPr lang="it-IT" b="1" dirty="0" err="1"/>
              <a:t>Convoluzionale</a:t>
            </a:r>
            <a:r>
              <a:rPr lang="it-IT" b="1" dirty="0"/>
              <a:t> (CNN)</a:t>
            </a:r>
          </a:p>
        </p:txBody>
      </p:sp>
      <p:sp>
        <p:nvSpPr>
          <p:cNvPr id="19" name="Segnaposto data 18">
            <a:extLst>
              <a:ext uri="{FF2B5EF4-FFF2-40B4-BE49-F238E27FC236}">
                <a16:creationId xmlns:a16="http://schemas.microsoft.com/office/drawing/2014/main" id="{D718C8D1-D9AA-1F65-DCD9-B7502DE0E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20" name="Segnaposto piè di pagina 19">
            <a:extLst>
              <a:ext uri="{FF2B5EF4-FFF2-40B4-BE49-F238E27FC236}">
                <a16:creationId xmlns:a16="http://schemas.microsoft.com/office/drawing/2014/main" id="{6B2CD4F2-975B-E5B5-2433-67D1E4E73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21" name="Segnaposto numero diapositiva 20">
            <a:extLst>
              <a:ext uri="{FF2B5EF4-FFF2-40B4-BE49-F238E27FC236}">
                <a16:creationId xmlns:a16="http://schemas.microsoft.com/office/drawing/2014/main" id="{DCEDC701-821F-F77A-D178-2AE4F760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1CA22860-777B-A82D-C457-87D249ED7EEE}"/>
                  </a:ext>
                </a:extLst>
              </p:cNvPr>
              <p:cNvSpPr txBox="1"/>
              <p:nvPr/>
            </p:nvSpPr>
            <p:spPr>
              <a:xfrm>
                <a:off x="904494" y="4660231"/>
                <a:ext cx="11089108" cy="14003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700" b="1" dirty="0"/>
                  <a:t>Double Deep Q-Network: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700" dirty="0"/>
                  <a:t>Una </a:t>
                </a:r>
                <a:r>
                  <a:rPr lang="it-IT" sz="1700" b="1" dirty="0"/>
                  <a:t>Rete Neurale Policy</a:t>
                </a:r>
                <a:r>
                  <a:rPr lang="it-IT" sz="1700" dirty="0"/>
                  <a:t> approssima </a:t>
                </a:r>
                <a14:m>
                  <m:oMath xmlns:m="http://schemas.openxmlformats.org/officeDocument/2006/math"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1700" b="1" dirty="0"/>
                  <a:t> </a:t>
                </a:r>
                <a:r>
                  <a:rPr lang="it-IT" sz="1700" dirty="0"/>
                  <a:t>per ogni coppia stato-azione (</a:t>
                </a:r>
                <a:r>
                  <a:rPr lang="it-IT" sz="1700" i="1" dirty="0"/>
                  <a:t>sindrome-correzione</a:t>
                </a:r>
                <a:r>
                  <a:rPr lang="it-IT" sz="17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700" dirty="0"/>
                  <a:t>Una </a:t>
                </a:r>
                <a:r>
                  <a:rPr lang="it-IT" sz="1700" b="1" dirty="0"/>
                  <a:t>Rete Neurale Target </a:t>
                </a:r>
                <a:r>
                  <a:rPr lang="it-IT" sz="1700" dirty="0"/>
                  <a:t>per calcola il valore obiettivo ad ogni ottimizzazione dei pesi</a:t>
                </a:r>
                <a:endParaRPr lang="it-IT" sz="17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700" dirty="0"/>
                  <a:t>L’agente accumula esperienza nel </a:t>
                </a:r>
                <a:r>
                  <a:rPr lang="it-IT" sz="1700" b="1" dirty="0"/>
                  <a:t>Replay Buffer </a:t>
                </a:r>
                <a:r>
                  <a:rPr lang="it-IT" sz="1700" dirty="0"/>
                  <a:t>interagendo direttamente in maniera sequenziale con l’ambiente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700" b="1" i="1" dirty="0"/>
                  <a:t>Double: </a:t>
                </a:r>
                <a:r>
                  <a:rPr lang="it-IT" sz="1700" dirty="0"/>
                  <a:t>la rete policy </a:t>
                </a:r>
                <a:r>
                  <a:rPr lang="it-IT" sz="1700" i="1" dirty="0"/>
                  <a:t>seleziona</a:t>
                </a:r>
                <a:r>
                  <a:rPr lang="it-IT" sz="1700" dirty="0"/>
                  <a:t> l’azione ottimale, la rete target </a:t>
                </a:r>
                <a:r>
                  <a:rPr lang="it-IT" sz="1700" i="1" dirty="0"/>
                  <a:t>calcola</a:t>
                </a:r>
                <a:r>
                  <a:rPr lang="it-IT" sz="1700" dirty="0"/>
                  <a:t> il valore dell’obiettivo</a:t>
                </a:r>
                <a:endParaRPr lang="it-IT" sz="1700" b="1" i="1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1CA22860-777B-A82D-C457-87D249ED7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494" y="4660231"/>
                <a:ext cx="11089108" cy="1400383"/>
              </a:xfrm>
              <a:prstGeom prst="rect">
                <a:avLst/>
              </a:prstGeom>
              <a:blipFill>
                <a:blip r:embed="rId4"/>
                <a:stretch>
                  <a:fillRect l="-330" t="-1304" b="-47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12C09849-7D98-7E5C-2E3D-570512C10F9C}"/>
                  </a:ext>
                </a:extLst>
              </p:cNvPr>
              <p:cNvSpPr txBox="1"/>
              <p:nvPr/>
            </p:nvSpPr>
            <p:spPr>
              <a:xfrm>
                <a:off x="10036399" y="5707222"/>
                <a:ext cx="18519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400" dirty="0"/>
                  <a:t>Riduce il rischio di sovrastima di 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1400" dirty="0"/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12C09849-7D98-7E5C-2E3D-570512C10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6399" y="5707222"/>
                <a:ext cx="1851926" cy="523220"/>
              </a:xfrm>
              <a:prstGeom prst="rect">
                <a:avLst/>
              </a:prstGeom>
              <a:blipFill>
                <a:blip r:embed="rId5"/>
                <a:stretch>
                  <a:fillRect l="-987" t="-2326" b="-116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ttore 2 5">
            <a:extLst>
              <a:ext uri="{FF2B5EF4-FFF2-40B4-BE49-F238E27FC236}">
                <a16:creationId xmlns:a16="http://schemas.microsoft.com/office/drawing/2014/main" id="{5E443FB8-19D7-A6AB-1979-C0B45C481012}"/>
              </a:ext>
            </a:extLst>
          </p:cNvPr>
          <p:cNvCxnSpPr/>
          <p:nvPr/>
        </p:nvCxnSpPr>
        <p:spPr>
          <a:xfrm>
            <a:off x="9504136" y="5886514"/>
            <a:ext cx="436880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456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0DEA9F-2A94-5F3C-7519-EA8F20FBE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Continual</a:t>
            </a:r>
            <a:r>
              <a:rPr lang="it-IT" dirty="0"/>
              <a:t> Learning: </a:t>
            </a:r>
            <a:r>
              <a:rPr lang="it-IT" dirty="0" err="1"/>
              <a:t>Probabilistic</a:t>
            </a:r>
            <a:r>
              <a:rPr lang="it-IT" dirty="0"/>
              <a:t> Policy </a:t>
            </a:r>
            <a:r>
              <a:rPr lang="it-IT" dirty="0" err="1"/>
              <a:t>Reuse</a:t>
            </a:r>
            <a:r>
              <a:rPr lang="it-IT" dirty="0"/>
              <a:t> (PPR)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923C881-79C7-6D48-2F03-8A5746F746E7}"/>
              </a:ext>
            </a:extLst>
          </p:cNvPr>
          <p:cNvSpPr txBox="1"/>
          <p:nvPr/>
        </p:nvSpPr>
        <p:spPr>
          <a:xfrm>
            <a:off x="348246" y="1256268"/>
            <a:ext cx="11711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/>
              <a:t>Continual</a:t>
            </a:r>
            <a:r>
              <a:rPr lang="it-IT" b="1" dirty="0"/>
              <a:t> Learning: </a:t>
            </a:r>
            <a:r>
              <a:rPr lang="it-IT" dirty="0"/>
              <a:t>apprendimento basato sul riutilizzo delle conoscenze acquisite per agevolare un nuovo addestramento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2CAE0B6-8BE7-B52E-9241-373264BBB1CD}"/>
              </a:ext>
            </a:extLst>
          </p:cNvPr>
          <p:cNvSpPr txBox="1"/>
          <p:nvPr/>
        </p:nvSpPr>
        <p:spPr>
          <a:xfrm>
            <a:off x="4204623" y="1749648"/>
            <a:ext cx="3515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Algoritmi </a:t>
            </a:r>
            <a:r>
              <a:rPr lang="it-IT" i="1" dirty="0"/>
              <a:t>off-policy</a:t>
            </a:r>
            <a:br>
              <a:rPr lang="it-IT" i="1" dirty="0"/>
            </a:br>
            <a:r>
              <a:rPr lang="it-IT" dirty="0"/>
              <a:t>Strategia di selezione dell’azione:</a:t>
            </a:r>
          </a:p>
          <a:p>
            <a:pPr algn="ctr"/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47B2A0C2-DBA0-7009-79FC-D3823A0AB7BB}"/>
                  </a:ext>
                </a:extLst>
              </p:cNvPr>
              <p:cNvSpPr/>
              <p:nvPr/>
            </p:nvSpPr>
            <p:spPr>
              <a:xfrm>
                <a:off x="933062" y="2587164"/>
                <a:ext cx="2082800" cy="508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i="1" dirty="0"/>
                  <a:t>-</a:t>
                </a:r>
                <a:r>
                  <a:rPr lang="it-IT" i="1" dirty="0" err="1"/>
                  <a:t>greedy</a:t>
                </a:r>
                <a:r>
                  <a:rPr lang="it-IT" dirty="0"/>
                  <a:t> </a:t>
                </a:r>
                <a:endParaRPr lang="it-IT" i="1" dirty="0"/>
              </a:p>
            </p:txBody>
          </p:sp>
        </mc:Choice>
        <mc:Fallback xmlns="">
          <p:sp>
            <p:nvSpPr>
              <p:cNvPr id="7" name="Rettangolo con angoli arrotondati 6">
                <a:extLst>
                  <a:ext uri="{FF2B5EF4-FFF2-40B4-BE49-F238E27FC236}">
                    <a16:creationId xmlns:a16="http://schemas.microsoft.com/office/drawing/2014/main" id="{47B2A0C2-DBA0-7009-79FC-D3823A0AB7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62" y="2587164"/>
                <a:ext cx="2082800" cy="508000"/>
              </a:xfrm>
              <a:prstGeom prst="roundRect">
                <a:avLst/>
              </a:prstGeom>
              <a:blipFill>
                <a:blip r:embed="rId2"/>
                <a:stretch>
                  <a:fillRect b="-22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ttangolo con angoli arrotondati 7">
                <a:extLst>
                  <a:ext uri="{FF2B5EF4-FFF2-40B4-BE49-F238E27FC236}">
                    <a16:creationId xmlns:a16="http://schemas.microsoft.com/office/drawing/2014/main" id="{7519FB04-E864-6D75-5CCC-8BA18DE6E9E7}"/>
                  </a:ext>
                </a:extLst>
              </p:cNvPr>
              <p:cNvSpPr/>
              <p:nvPr/>
            </p:nvSpPr>
            <p:spPr>
              <a:xfrm>
                <a:off x="933062" y="3340017"/>
                <a:ext cx="2082800" cy="50800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it-IT" i="1" dirty="0"/>
                  <a:t>-</a:t>
                </a:r>
                <a:r>
                  <a:rPr lang="it-IT" i="1" dirty="0" err="1"/>
                  <a:t>reuse</a:t>
                </a:r>
                <a:endParaRPr lang="it-IT" i="1" dirty="0"/>
              </a:p>
            </p:txBody>
          </p:sp>
        </mc:Choice>
        <mc:Fallback xmlns="">
          <p:sp>
            <p:nvSpPr>
              <p:cNvPr id="8" name="Rettangolo con angoli arrotondati 7">
                <a:extLst>
                  <a:ext uri="{FF2B5EF4-FFF2-40B4-BE49-F238E27FC236}">
                    <a16:creationId xmlns:a16="http://schemas.microsoft.com/office/drawing/2014/main" id="{7519FB04-E864-6D75-5CCC-8BA18DE6E9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62" y="3340017"/>
                <a:ext cx="2082800" cy="508000"/>
              </a:xfrm>
              <a:prstGeom prst="roundRect">
                <a:avLst/>
              </a:prstGeom>
              <a:blipFill>
                <a:blip r:embed="rId3"/>
                <a:stretch>
                  <a:fillRect b="-34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503D393-901C-E94A-457D-E980146D0CA3}"/>
                  </a:ext>
                </a:extLst>
              </p:cNvPr>
              <p:cNvSpPr txBox="1"/>
              <p:nvPr/>
            </p:nvSpPr>
            <p:spPr>
              <a:xfrm>
                <a:off x="3735646" y="2587164"/>
                <a:ext cx="44533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/>
                  <a:t>Esplorazione casuale               con </a:t>
                </a:r>
                <a:r>
                  <a:rPr lang="it-IT" sz="1600" dirty="0" err="1"/>
                  <a:t>prob</a:t>
                </a:r>
                <a:r>
                  <a:rPr lang="it-IT" sz="1600" dirty="0"/>
                  <a:t>.	      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it-IT" sz="1600" dirty="0"/>
              </a:p>
              <a:p>
                <a:r>
                  <a:rPr lang="it-IT" sz="1600" dirty="0"/>
                  <a:t>Sfruttamento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it-IT" sz="1600" dirty="0"/>
                  <a:t>              con </a:t>
                </a:r>
                <a:r>
                  <a:rPr lang="it-IT" sz="1600" dirty="0" err="1"/>
                  <a:t>prob</a:t>
                </a:r>
                <a:r>
                  <a:rPr lang="it-IT" sz="1600" dirty="0"/>
                  <a:t>. </a:t>
                </a:r>
                <a14:m>
                  <m:oMath xmlns:m="http://schemas.openxmlformats.org/officeDocument/2006/math">
                    <m:r>
                      <a:rPr lang="it-IT" sz="1600" b="0" i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1600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8503D393-901C-E94A-457D-E980146D0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646" y="2587164"/>
                <a:ext cx="4453314" cy="584775"/>
              </a:xfrm>
              <a:prstGeom prst="rect">
                <a:avLst/>
              </a:prstGeom>
              <a:blipFill>
                <a:blip r:embed="rId4"/>
                <a:stretch>
                  <a:fillRect l="-822" t="-3125" b="-125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74AE2B53-F5FB-4150-31C1-1C03800EBF78}"/>
                  </a:ext>
                </a:extLst>
              </p:cNvPr>
              <p:cNvSpPr txBox="1"/>
              <p:nvPr/>
            </p:nvSpPr>
            <p:spPr>
              <a:xfrm>
                <a:off x="3731133" y="3286760"/>
                <a:ext cx="4154038" cy="603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/>
                  <a:t>Sfruttamento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𝑝𝑎𝑠𝑡</m:t>
                        </m:r>
                      </m:sub>
                    </m:sSub>
                  </m:oMath>
                </a14:m>
                <a:r>
                  <a:rPr lang="it-IT" sz="1600" dirty="0"/>
                  <a:t>             con </a:t>
                </a:r>
                <a:r>
                  <a:rPr lang="it-IT" sz="1600" dirty="0" err="1"/>
                  <a:t>prob</a:t>
                </a:r>
                <a:r>
                  <a:rPr lang="it-IT" sz="1600" dirty="0"/>
                  <a:t>.	      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it-IT" sz="1600" dirty="0"/>
              </a:p>
              <a:p>
                <a:r>
                  <a:rPr lang="it-IT" sz="1600" dirty="0"/>
                  <a:t>Strategia </a:t>
                </a:r>
                <a14:m>
                  <m:oMath xmlns:m="http://schemas.openxmlformats.org/officeDocument/2006/math">
                    <m:r>
                      <a:rPr lang="it-IT" sz="1600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it-IT" sz="1600" i="1" dirty="0"/>
                  <a:t>-</a:t>
                </a:r>
                <a:r>
                  <a:rPr lang="it-IT" sz="1600" i="1" dirty="0" err="1"/>
                  <a:t>greedy</a:t>
                </a:r>
                <a:r>
                  <a:rPr lang="it-IT" sz="1600" dirty="0"/>
                  <a:t> su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it-IT" sz="1600" i="1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it-IT" sz="1600" dirty="0"/>
                  <a:t>    con </a:t>
                </a:r>
                <a:r>
                  <a:rPr lang="it-IT" sz="1600" dirty="0" err="1"/>
                  <a:t>prob</a:t>
                </a:r>
                <a:r>
                  <a:rPr lang="it-IT" sz="1600" dirty="0"/>
                  <a:t>. </a:t>
                </a:r>
                <a14:m>
                  <m:oMath xmlns:m="http://schemas.openxmlformats.org/officeDocument/2006/math">
                    <m:r>
                      <a:rPr lang="it-IT" sz="1600" b="0" i="0" smtClean="0">
                        <a:latin typeface="Cambria Math" panose="02040503050406030204" pitchFamily="18" charset="0"/>
                      </a:rPr>
                      <m:t>(1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1600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74AE2B53-F5FB-4150-31C1-1C03800EB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133" y="3286760"/>
                <a:ext cx="4154038" cy="603755"/>
              </a:xfrm>
              <a:prstGeom prst="rect">
                <a:avLst/>
              </a:prstGeom>
              <a:blipFill>
                <a:blip r:embed="rId5"/>
                <a:stretch>
                  <a:fillRect l="-734" t="-2020" b="-1212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Parentesi graffa aperta 16">
            <a:extLst>
              <a:ext uri="{FF2B5EF4-FFF2-40B4-BE49-F238E27FC236}">
                <a16:creationId xmlns:a16="http://schemas.microsoft.com/office/drawing/2014/main" id="{630D054F-64CD-F0EB-A8D5-69D6B609D55C}"/>
              </a:ext>
            </a:extLst>
          </p:cNvPr>
          <p:cNvSpPr/>
          <p:nvPr/>
        </p:nvSpPr>
        <p:spPr>
          <a:xfrm>
            <a:off x="3649152" y="2609345"/>
            <a:ext cx="163963" cy="540411"/>
          </a:xfrm>
          <a:prstGeom prst="leftBrace">
            <a:avLst>
              <a:gd name="adj1" fmla="val 49475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Parentesi graffa aperta 17">
            <a:extLst>
              <a:ext uri="{FF2B5EF4-FFF2-40B4-BE49-F238E27FC236}">
                <a16:creationId xmlns:a16="http://schemas.microsoft.com/office/drawing/2014/main" id="{D0B4DC53-A652-6E1C-B8C1-43C8F1A76A46}"/>
              </a:ext>
            </a:extLst>
          </p:cNvPr>
          <p:cNvSpPr/>
          <p:nvPr/>
        </p:nvSpPr>
        <p:spPr>
          <a:xfrm>
            <a:off x="3649151" y="3318431"/>
            <a:ext cx="163963" cy="540411"/>
          </a:xfrm>
          <a:prstGeom prst="leftBrace">
            <a:avLst>
              <a:gd name="adj1" fmla="val 51798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a destra 18">
            <a:extLst>
              <a:ext uri="{FF2B5EF4-FFF2-40B4-BE49-F238E27FC236}">
                <a16:creationId xmlns:a16="http://schemas.microsoft.com/office/drawing/2014/main" id="{83DAB5D5-27DD-134C-CFD9-70487189C769}"/>
              </a:ext>
            </a:extLst>
          </p:cNvPr>
          <p:cNvSpPr/>
          <p:nvPr/>
        </p:nvSpPr>
        <p:spPr>
          <a:xfrm>
            <a:off x="8388840" y="2777025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58223D03-46BC-1093-A0E7-FDB887075488}"/>
              </a:ext>
            </a:extLst>
          </p:cNvPr>
          <p:cNvSpPr/>
          <p:nvPr/>
        </p:nvSpPr>
        <p:spPr>
          <a:xfrm>
            <a:off x="8388839" y="3486111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C47E6CB5-F567-60FD-7FB9-B26DE77D2BC3}"/>
              </a:ext>
            </a:extLst>
          </p:cNvPr>
          <p:cNvSpPr txBox="1"/>
          <p:nvPr/>
        </p:nvSpPr>
        <p:spPr>
          <a:xfrm>
            <a:off x="9282826" y="2662838"/>
            <a:ext cx="207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DDQN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08FC179-993D-5C96-77D2-7B1F7AEA3801}"/>
              </a:ext>
            </a:extLst>
          </p:cNvPr>
          <p:cNvSpPr txBox="1"/>
          <p:nvPr/>
        </p:nvSpPr>
        <p:spPr>
          <a:xfrm>
            <a:off x="9282826" y="3400539"/>
            <a:ext cx="207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DDQN + PPR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ttangolo con angoli arrotondati 22">
                <a:extLst>
                  <a:ext uri="{FF2B5EF4-FFF2-40B4-BE49-F238E27FC236}">
                    <a16:creationId xmlns:a16="http://schemas.microsoft.com/office/drawing/2014/main" id="{FA48A13D-0C76-0B8B-7336-0B5C82893051}"/>
                  </a:ext>
                </a:extLst>
              </p:cNvPr>
              <p:cNvSpPr/>
              <p:nvPr/>
            </p:nvSpPr>
            <p:spPr>
              <a:xfrm>
                <a:off x="705291" y="4281919"/>
                <a:ext cx="10781418" cy="805890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it-IT" b="1" dirty="0">
                    <a:solidFill>
                      <a:schemeClr val="tx1"/>
                    </a:solidFill>
                  </a:rPr>
                  <a:t>Probabilistic Policy </a:t>
                </a:r>
                <a:r>
                  <a:rPr lang="it-IT" b="1" dirty="0" err="1">
                    <a:solidFill>
                      <a:schemeClr val="tx1"/>
                    </a:solidFill>
                  </a:rPr>
                  <a:t>Reuse</a:t>
                </a:r>
                <a:r>
                  <a:rPr lang="it-IT" b="1" dirty="0">
                    <a:solidFill>
                      <a:schemeClr val="tx1"/>
                    </a:solidFill>
                  </a:rPr>
                  <a:t>:</a:t>
                </a:r>
                <a:r>
                  <a:rPr lang="it-IT" dirty="0">
                    <a:solidFill>
                      <a:schemeClr val="tx1"/>
                    </a:solidFill>
                  </a:rPr>
                  <a:t> Data una libreria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 di </a:t>
                </a:r>
                <a:r>
                  <a:rPr lang="it-IT" i="1" dirty="0">
                    <a:solidFill>
                      <a:schemeClr val="tx1"/>
                    </a:solidFill>
                  </a:rPr>
                  <a:t>policy</a:t>
                </a:r>
                <a:r>
                  <a:rPr lang="it-IT" dirty="0">
                    <a:solidFill>
                      <a:schemeClr val="tx1"/>
                    </a:solidFill>
                  </a:rPr>
                  <a:t> </a:t>
                </a:r>
                <a:r>
                  <a:rPr lang="it-IT" dirty="0" err="1">
                    <a:solidFill>
                      <a:schemeClr val="tx1"/>
                    </a:solidFill>
                  </a:rPr>
                  <a:t>pre</a:t>
                </a:r>
                <a:r>
                  <a:rPr lang="it-IT" dirty="0">
                    <a:solidFill>
                      <a:schemeClr val="tx1"/>
                    </a:solidFill>
                  </a:rPr>
                  <a:t>-addestrate in ambienti simili, per ogni episodio di </a:t>
                </a:r>
                <a:br>
                  <a:rPr lang="it-IT" dirty="0">
                    <a:solidFill>
                      <a:schemeClr val="tx1"/>
                    </a:solidFill>
                  </a:rPr>
                </a:br>
                <a:r>
                  <a:rPr lang="it-IT" dirty="0">
                    <a:solidFill>
                      <a:schemeClr val="tx1"/>
                    </a:solidFill>
                  </a:rPr>
                  <a:t>                                                interazione viene selezionata una strategia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𝑝𝑎𝑠𝑡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 per mettere in pratica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it-IT" dirty="0">
                    <a:solidFill>
                      <a:schemeClr val="tx1"/>
                    </a:solidFill>
                  </a:rPr>
                  <a:t>-</a:t>
                </a:r>
                <a:r>
                  <a:rPr lang="it-IT" i="1" dirty="0" err="1">
                    <a:solidFill>
                      <a:schemeClr val="tx1"/>
                    </a:solidFill>
                  </a:rPr>
                  <a:t>reuse</a:t>
                </a:r>
                <a:endParaRPr lang="it-IT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ttangolo con angoli arrotondati 22">
                <a:extLst>
                  <a:ext uri="{FF2B5EF4-FFF2-40B4-BE49-F238E27FC236}">
                    <a16:creationId xmlns:a16="http://schemas.microsoft.com/office/drawing/2014/main" id="{FA48A13D-0C76-0B8B-7336-0B5C828930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291" y="4281919"/>
                <a:ext cx="10781418" cy="805890"/>
              </a:xfrm>
              <a:prstGeom prst="roundRect">
                <a:avLst/>
              </a:prstGeom>
              <a:blipFill>
                <a:blip r:embed="rId6"/>
                <a:stretch>
                  <a:fillRect l="-5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F1A9F5AE-9491-9B24-FA81-F1C870499229}"/>
                  </a:ext>
                </a:extLst>
              </p:cNvPr>
              <p:cNvSpPr txBox="1"/>
              <p:nvPr/>
            </p:nvSpPr>
            <p:spPr>
              <a:xfrm>
                <a:off x="482654" y="5393950"/>
                <a:ext cx="5325498" cy="6508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b="1" dirty="0"/>
                  <a:t>Distribuzione </a:t>
                </a:r>
                <a:r>
                  <a:rPr lang="it-IT" b="1" dirty="0" err="1"/>
                  <a:t>Softmax</a:t>
                </a:r>
                <a:r>
                  <a:rPr lang="it-IT" dirty="0"/>
                  <a:t>		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sSub>
                              <m:sSub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it-IT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it-IT" dirty="0"/>
                  <a:t> 	</a:t>
                </a:r>
              </a:p>
            </p:txBody>
          </p:sp>
        </mc:Choice>
        <mc:Fallback xmlns=""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F1A9F5AE-9491-9B24-FA81-F1C8704992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54" y="5393950"/>
                <a:ext cx="5325498" cy="6508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51FDF83F-32C2-92FC-9A88-FD61F9B51B8F}"/>
                  </a:ext>
                </a:extLst>
              </p:cNvPr>
              <p:cNvSpPr txBox="1"/>
              <p:nvPr/>
            </p:nvSpPr>
            <p:spPr>
              <a:xfrm>
                <a:off x="6383850" y="5427455"/>
                <a:ext cx="5506720" cy="604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it-IT" sz="1600" dirty="0"/>
                  <a:t>  parametro di </a:t>
                </a:r>
                <a:r>
                  <a:rPr lang="it-IT" sz="1600" i="1" dirty="0"/>
                  <a:t>temperatura </a:t>
                </a:r>
                <a:r>
                  <a:rPr lang="it-IT" sz="1600" dirty="0"/>
                  <a:t>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it-IT" sz="1600" i="1" dirty="0"/>
                  <a:t> </a:t>
                </a:r>
                <a:r>
                  <a:rPr lang="it-IT" sz="1600" dirty="0"/>
                  <a:t>incremento per ogni </a:t>
                </a:r>
                <a:r>
                  <a:rPr lang="it-IT" sz="1600" dirty="0" err="1"/>
                  <a:t>ep</a:t>
                </a:r>
                <a:r>
                  <a:rPr lang="it-IT" sz="1600" dirty="0"/>
                  <a:t>.</a:t>
                </a:r>
                <a:endParaRPr lang="it-IT" sz="16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1600" dirty="0"/>
                  <a:t> ricompensa media della politica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it-IT" sz="1600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51FDF83F-32C2-92FC-9A88-FD61F9B51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3850" y="5427455"/>
                <a:ext cx="5506720" cy="604589"/>
              </a:xfrm>
              <a:prstGeom prst="rect">
                <a:avLst/>
              </a:prstGeom>
              <a:blipFill>
                <a:blip r:embed="rId8"/>
                <a:stretch>
                  <a:fillRect l="-442" t="-3000" b="-9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egnaposto data 27">
            <a:extLst>
              <a:ext uri="{FF2B5EF4-FFF2-40B4-BE49-F238E27FC236}">
                <a16:creationId xmlns:a16="http://schemas.microsoft.com/office/drawing/2014/main" id="{71E604BB-3B4A-DBB1-8C73-0144EED16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29" name="Segnaposto piè di pagina 28">
            <a:extLst>
              <a:ext uri="{FF2B5EF4-FFF2-40B4-BE49-F238E27FC236}">
                <a16:creationId xmlns:a16="http://schemas.microsoft.com/office/drawing/2014/main" id="{7AA0E136-DA8E-97DB-7D07-B94B37D2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30" name="Segnaposto numero diapositiva 29">
            <a:extLst>
              <a:ext uri="{FF2B5EF4-FFF2-40B4-BE49-F238E27FC236}">
                <a16:creationId xmlns:a16="http://schemas.microsoft.com/office/drawing/2014/main" id="{A5732C8D-8C71-DCAC-4749-05374B63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98214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3" grpId="0"/>
      <p:bldP spid="14" grpId="0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 animBg="1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81C8F-37B5-C23F-B0C7-19ADD1B0F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EF3601-1BCE-C00F-863F-B7540EEE6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Setup sperimentale e simulazioni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212F354-1981-D3E8-7FF7-13C536FF8C69}"/>
              </a:ext>
            </a:extLst>
          </p:cNvPr>
          <p:cNvSpPr txBox="1"/>
          <p:nvPr/>
        </p:nvSpPr>
        <p:spPr>
          <a:xfrm>
            <a:off x="519777" y="1119753"/>
            <a:ext cx="11145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Il progetto è stato interamente sviluppato in </a:t>
            </a:r>
            <a:r>
              <a:rPr lang="it-IT" b="1" dirty="0"/>
              <a:t>Python</a:t>
            </a:r>
            <a:r>
              <a:rPr lang="it-IT" i="1" dirty="0"/>
              <a:t>, </a:t>
            </a:r>
            <a:r>
              <a:rPr lang="it-IT" dirty="0"/>
              <a:t>ispirato ai lavori di </a:t>
            </a:r>
            <a:r>
              <a:rPr lang="it-IT" dirty="0" err="1"/>
              <a:t>Sweke</a:t>
            </a:r>
            <a:r>
              <a:rPr lang="it-IT" dirty="0"/>
              <a:t> et al. (2020) e </a:t>
            </a:r>
            <a:r>
              <a:rPr lang="it-IT" dirty="0" err="1"/>
              <a:t>Matekole</a:t>
            </a:r>
            <a:r>
              <a:rPr lang="it-IT" dirty="0"/>
              <a:t> et  al. (2022)</a:t>
            </a:r>
            <a:endParaRPr lang="it-IT" b="1" dirty="0"/>
          </a:p>
          <a:p>
            <a:endParaRPr lang="it-IT" dirty="0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F050447-D364-7F92-7815-5C242E816FFC}"/>
              </a:ext>
            </a:extLst>
          </p:cNvPr>
          <p:cNvSpPr/>
          <p:nvPr/>
        </p:nvSpPr>
        <p:spPr>
          <a:xfrm>
            <a:off x="479513" y="1743227"/>
            <a:ext cx="1719314" cy="5310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Agente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F066B6D-69D9-812B-EA6D-BC3BAE22CD72}"/>
              </a:ext>
            </a:extLst>
          </p:cNvPr>
          <p:cNvSpPr txBox="1"/>
          <p:nvPr/>
        </p:nvSpPr>
        <p:spPr>
          <a:xfrm>
            <a:off x="2459079" y="1706215"/>
            <a:ext cx="93775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Implementato attraverso opportune classi sviluppate con la libreria </a:t>
            </a:r>
            <a:r>
              <a:rPr lang="it-IT" sz="1600" b="1" dirty="0" err="1"/>
              <a:t>PyTorch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Comprende gli elementi necessari a </a:t>
            </a:r>
            <a:r>
              <a:rPr lang="it-IT" sz="1600" b="1" dirty="0"/>
              <a:t>DDQN</a:t>
            </a:r>
            <a:r>
              <a:rPr lang="it-IT" sz="1600" dirty="0"/>
              <a:t> e </a:t>
            </a:r>
            <a:r>
              <a:rPr lang="it-IT" sz="1600" b="1" dirty="0"/>
              <a:t>PPR</a:t>
            </a:r>
            <a:r>
              <a:rPr lang="it-IT" sz="1600" dirty="0"/>
              <a:t>: Reti Neurali, Replay Buffer, Ottimizzatore</a:t>
            </a:r>
          </a:p>
          <a:p>
            <a:endParaRPr lang="it-IT" dirty="0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42A6F6FB-3F06-10E4-1FEC-884B386D22A6}"/>
              </a:ext>
            </a:extLst>
          </p:cNvPr>
          <p:cNvSpPr/>
          <p:nvPr/>
        </p:nvSpPr>
        <p:spPr>
          <a:xfrm>
            <a:off x="484593" y="2820109"/>
            <a:ext cx="1719314" cy="5310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Ambiente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066BD06-0C6C-A61E-0E8A-858FE7C2989B}"/>
              </a:ext>
            </a:extLst>
          </p:cNvPr>
          <p:cNvSpPr txBox="1"/>
          <p:nvPr/>
        </p:nvSpPr>
        <p:spPr>
          <a:xfrm>
            <a:off x="2459079" y="2738301"/>
            <a:ext cx="9473577" cy="114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Tratto dal repository di </a:t>
            </a:r>
            <a:r>
              <a:rPr lang="it-IT" sz="1600" dirty="0" err="1"/>
              <a:t>Sweke</a:t>
            </a:r>
            <a:r>
              <a:rPr lang="it-IT" sz="1600" dirty="0"/>
              <a:t> et al. (2020), aggiornato alla libreria </a:t>
            </a:r>
            <a:r>
              <a:rPr lang="it-IT" sz="1600" b="1" dirty="0" err="1"/>
              <a:t>Gymnasium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Simula </a:t>
            </a:r>
            <a:r>
              <a:rPr lang="it-IT" sz="1600" i="1" dirty="0"/>
              <a:t>volumi di sindrome dinamici </a:t>
            </a:r>
            <a:r>
              <a:rPr lang="it-IT" sz="1600" dirty="0"/>
              <a:t>relativi a Surface Code 5x5 soggetto a un rumore con  </a:t>
            </a:r>
            <a:r>
              <a:rPr lang="it-IT" sz="1600" i="1" dirty="0" err="1"/>
              <a:t>p</a:t>
            </a:r>
            <a:r>
              <a:rPr lang="it-IT" sz="1600" i="1" baseline="-25000" dirty="0" err="1"/>
              <a:t>phys</a:t>
            </a:r>
            <a:r>
              <a:rPr lang="it-IT" sz="1600" dirty="0"/>
              <a:t>  e  </a:t>
            </a:r>
            <a:r>
              <a:rPr lang="it-IT" sz="1600" i="1" dirty="0" err="1"/>
              <a:t>p</a:t>
            </a:r>
            <a:r>
              <a:rPr lang="it-IT" sz="1600" i="1" baseline="-25000" dirty="0" err="1"/>
              <a:t>meas</a:t>
            </a:r>
            <a:endParaRPr lang="it-IT" sz="16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Ambienti simulati: solo errore </a:t>
            </a:r>
            <a:r>
              <a:rPr lang="it-IT" sz="1600" b="1" i="1" dirty="0"/>
              <a:t>bit-flip</a:t>
            </a:r>
            <a:r>
              <a:rPr lang="it-IT" sz="1600" dirty="0"/>
              <a:t> con tasso  </a:t>
            </a:r>
            <a:r>
              <a:rPr lang="it-IT" sz="1600" i="1" dirty="0" err="1"/>
              <a:t>p</a:t>
            </a:r>
            <a:r>
              <a:rPr lang="it-IT" sz="1600" i="1" baseline="-25000" dirty="0" err="1"/>
              <a:t>err</a:t>
            </a:r>
            <a:r>
              <a:rPr lang="it-IT" sz="1600" i="1" baseline="-25000" dirty="0"/>
              <a:t> </a:t>
            </a:r>
            <a:r>
              <a:rPr lang="it-IT" sz="1600" i="1" dirty="0"/>
              <a:t>= </a:t>
            </a:r>
            <a:r>
              <a:rPr lang="it-IT" sz="1600" i="1" dirty="0" err="1"/>
              <a:t>p</a:t>
            </a:r>
            <a:r>
              <a:rPr lang="it-IT" sz="1600" i="1" baseline="-25000" dirty="0" err="1"/>
              <a:t>phys</a:t>
            </a:r>
            <a:r>
              <a:rPr lang="it-IT" sz="1600" i="1" baseline="-25000" dirty="0"/>
              <a:t> </a:t>
            </a:r>
            <a:r>
              <a:rPr lang="it-IT" sz="1600" i="1" dirty="0"/>
              <a:t>= </a:t>
            </a:r>
            <a:r>
              <a:rPr lang="it-IT" sz="1600" i="1" dirty="0" err="1"/>
              <a:t>p</a:t>
            </a:r>
            <a:r>
              <a:rPr lang="it-IT" sz="1600" i="1" baseline="-25000" dirty="0" err="1"/>
              <a:t>meas</a:t>
            </a:r>
            <a:r>
              <a:rPr lang="it-IT" sz="1600" dirty="0"/>
              <a:t>  crescente.</a:t>
            </a:r>
          </a:p>
          <a:p>
            <a:endParaRPr lang="it-IT" dirty="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917A6EFD-8A2B-999D-BD9F-9B4CF0C72E31}"/>
              </a:ext>
            </a:extLst>
          </p:cNvPr>
          <p:cNvSpPr/>
          <p:nvPr/>
        </p:nvSpPr>
        <p:spPr>
          <a:xfrm>
            <a:off x="479513" y="4214531"/>
            <a:ext cx="1724394" cy="5310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Addestramento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1B053B5F-A4D4-77D0-9726-A6C930F62F75}"/>
              </a:ext>
            </a:extLst>
          </p:cNvPr>
          <p:cNvSpPr txBox="1"/>
          <p:nvPr/>
        </p:nvSpPr>
        <p:spPr>
          <a:xfrm>
            <a:off x="2459079" y="4097791"/>
            <a:ext cx="947427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Funzioni distinte </a:t>
            </a:r>
            <a:r>
              <a:rPr lang="it-IT" sz="1600" b="1" dirty="0"/>
              <a:t>DDQN</a:t>
            </a:r>
            <a:r>
              <a:rPr lang="it-IT" sz="1600" dirty="0"/>
              <a:t> e </a:t>
            </a:r>
            <a:r>
              <a:rPr lang="it-IT" sz="1600" b="1" dirty="0"/>
              <a:t>DDQN + PPR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Gli step di interazione sono articolati su </a:t>
            </a:r>
            <a:r>
              <a:rPr lang="it-IT" sz="1600" b="1" dirty="0"/>
              <a:t>episodi</a:t>
            </a:r>
            <a:r>
              <a:rPr lang="it-IT" sz="1600" dirty="0"/>
              <a:t>, durante i quali si alternano </a:t>
            </a:r>
            <a:r>
              <a:rPr lang="it-IT" sz="1600" b="1" i="1" dirty="0"/>
              <a:t>misure</a:t>
            </a:r>
            <a:r>
              <a:rPr lang="it-IT" sz="1600" b="1" dirty="0"/>
              <a:t> della sindrome </a:t>
            </a:r>
            <a:r>
              <a:rPr lang="it-IT" sz="1600" dirty="0"/>
              <a:t>e </a:t>
            </a:r>
            <a:r>
              <a:rPr lang="it-IT" sz="1600" b="1" dirty="0"/>
              <a:t>azioni correttive</a:t>
            </a:r>
            <a:r>
              <a:rPr lang="it-IT" sz="1600" dirty="0"/>
              <a:t>, fino al raggiungimento di una condizione terminale (</a:t>
            </a:r>
            <a:r>
              <a:rPr lang="it-IT" sz="1600" b="1" i="1" dirty="0"/>
              <a:t>errore logico</a:t>
            </a:r>
            <a:r>
              <a:rPr lang="it-IT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Gestione dinamica </a:t>
            </a:r>
            <a:r>
              <a:rPr lang="it-IT" sz="1600" i="1" dirty="0"/>
              <a:t>(semplice)</a:t>
            </a:r>
            <a:r>
              <a:rPr lang="it-IT" sz="1600" dirty="0"/>
              <a:t> degli </a:t>
            </a:r>
            <a:r>
              <a:rPr lang="it-IT" sz="1600" dirty="0" err="1"/>
              <a:t>iperparametri</a:t>
            </a:r>
            <a:r>
              <a:rPr lang="it-IT" sz="1600" dirty="0"/>
              <a:t> </a:t>
            </a:r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l-G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it-IT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l-GR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ψ</a:t>
            </a:r>
            <a:endParaRPr lang="it-IT" sz="1600" b="1" dirty="0"/>
          </a:p>
          <a:p>
            <a:endParaRPr lang="it-IT" dirty="0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D143653A-2439-E7D9-1EBA-DF26C3234DDF}"/>
              </a:ext>
            </a:extLst>
          </p:cNvPr>
          <p:cNvSpPr/>
          <p:nvPr/>
        </p:nvSpPr>
        <p:spPr>
          <a:xfrm>
            <a:off x="519777" y="5376114"/>
            <a:ext cx="11145520" cy="75351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t-IT" sz="1600" b="1" i="1" dirty="0" err="1">
                <a:solidFill>
                  <a:schemeClr val="tx1"/>
                </a:solidFill>
              </a:rPr>
              <a:t>Logical</a:t>
            </a:r>
            <a:r>
              <a:rPr lang="it-IT" sz="1600" b="1" i="1" dirty="0">
                <a:solidFill>
                  <a:schemeClr val="tx1"/>
                </a:solidFill>
              </a:rPr>
              <a:t> </a:t>
            </a:r>
            <a:r>
              <a:rPr lang="it-IT" sz="1600" b="1" i="1" dirty="0" err="1">
                <a:solidFill>
                  <a:schemeClr val="tx1"/>
                </a:solidFill>
              </a:rPr>
              <a:t>lifetime</a:t>
            </a:r>
            <a:r>
              <a:rPr lang="it-IT" sz="1600" b="1" i="1" dirty="0">
                <a:solidFill>
                  <a:schemeClr val="tx1"/>
                </a:solidFill>
              </a:rPr>
              <a:t>  </a:t>
            </a:r>
            <a:r>
              <a:rPr lang="it-IT" sz="1600" dirty="0">
                <a:solidFill>
                  <a:schemeClr val="tx1"/>
                </a:solidFill>
              </a:rPr>
              <a:t>Ciascun ciclo misura-correzioni rappresenta un istante di tempo discreto:  il numero di sindromi raccolte in un</a:t>
            </a:r>
            <a:br>
              <a:rPr lang="it-IT" sz="1600" dirty="0">
                <a:solidFill>
                  <a:schemeClr val="tx1"/>
                </a:solidFill>
              </a:rPr>
            </a:br>
            <a:r>
              <a:rPr lang="it-IT" sz="1600" dirty="0">
                <a:solidFill>
                  <a:schemeClr val="tx1"/>
                </a:solidFill>
              </a:rPr>
              <a:t>                              episodio prima di una condizione terminale viene estratto come </a:t>
            </a:r>
            <a:r>
              <a:rPr lang="it-IT" sz="1600" i="1" dirty="0" err="1">
                <a:solidFill>
                  <a:schemeClr val="tx1"/>
                </a:solidFill>
              </a:rPr>
              <a:t>lifetime</a:t>
            </a:r>
            <a:r>
              <a:rPr lang="it-IT" sz="1600" dirty="0">
                <a:solidFill>
                  <a:schemeClr val="tx1"/>
                </a:solidFill>
              </a:rPr>
              <a:t> del sistema. </a:t>
            </a:r>
          </a:p>
        </p:txBody>
      </p:sp>
      <p:sp>
        <p:nvSpPr>
          <p:cNvPr id="3" name="Freccia a destra 2">
            <a:extLst>
              <a:ext uri="{FF2B5EF4-FFF2-40B4-BE49-F238E27FC236}">
                <a16:creationId xmlns:a16="http://schemas.microsoft.com/office/drawing/2014/main" id="{BE0C8316-FB6C-90B2-64E1-7DCEDCA7EAB4}"/>
              </a:ext>
            </a:extLst>
          </p:cNvPr>
          <p:cNvSpPr/>
          <p:nvPr/>
        </p:nvSpPr>
        <p:spPr>
          <a:xfrm rot="5400000">
            <a:off x="783777" y="2444682"/>
            <a:ext cx="291352" cy="20505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832E9430-58B6-D807-F9EB-70530B1E5EBC}"/>
              </a:ext>
            </a:extLst>
          </p:cNvPr>
          <p:cNvSpPr/>
          <p:nvPr/>
        </p:nvSpPr>
        <p:spPr>
          <a:xfrm rot="16200000">
            <a:off x="1619017" y="2444682"/>
            <a:ext cx="291352" cy="205050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2B3CDE5-3027-CDAF-770C-F961025585E1}"/>
              </a:ext>
            </a:extLst>
          </p:cNvPr>
          <p:cNvSpPr/>
          <p:nvPr/>
        </p:nvSpPr>
        <p:spPr>
          <a:xfrm>
            <a:off x="293370" y="1615440"/>
            <a:ext cx="2090165" cy="184865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64231797-B530-E0F5-C465-DDE8C4398AC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338453" y="3464098"/>
            <a:ext cx="2555" cy="650702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Segnaposto data 27">
            <a:extLst>
              <a:ext uri="{FF2B5EF4-FFF2-40B4-BE49-F238E27FC236}">
                <a16:creationId xmlns:a16="http://schemas.microsoft.com/office/drawing/2014/main" id="{60A4FA04-3626-C4EA-E351-12105CD63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29" name="Segnaposto piè di pagina 28">
            <a:extLst>
              <a:ext uri="{FF2B5EF4-FFF2-40B4-BE49-F238E27FC236}">
                <a16:creationId xmlns:a16="http://schemas.microsoft.com/office/drawing/2014/main" id="{4F26CC1E-73DA-6D54-5C5E-D04645E8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30" name="Segnaposto numero diapositiva 29">
            <a:extLst>
              <a:ext uri="{FF2B5EF4-FFF2-40B4-BE49-F238E27FC236}">
                <a16:creationId xmlns:a16="http://schemas.microsoft.com/office/drawing/2014/main" id="{444ED86B-7E45-3F6B-1A18-0397C518B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83406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 animBg="1"/>
      <p:bldP spid="12" grpId="0"/>
      <p:bldP spid="13" grpId="0" animBg="1"/>
      <p:bldP spid="17" grpId="0"/>
      <p:bldP spid="18" grpId="0" animBg="1"/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DB5576-3353-2292-F7E9-27466BF9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sperimentali: DDQN vs DDQN + PPR</a:t>
            </a:r>
          </a:p>
        </p:txBody>
      </p:sp>
      <p:pic>
        <p:nvPicPr>
          <p:cNvPr id="55" name="Immagine 54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3C44C77-46EE-7049-6F8D-33FF67EAA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335" y="1953005"/>
            <a:ext cx="5394971" cy="3561595"/>
          </a:xfrm>
          <a:prstGeom prst="rect">
            <a:avLst/>
          </a:prstGeom>
        </p:spPr>
      </p:pic>
      <p:pic>
        <p:nvPicPr>
          <p:cNvPr id="57" name="Immagine 56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B1C27A01-2A99-A31C-BF21-BB7C4061F5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695" y="1953006"/>
            <a:ext cx="5394971" cy="3561595"/>
          </a:xfrm>
          <a:prstGeom prst="rect">
            <a:avLst/>
          </a:prstGeom>
        </p:spPr>
      </p:pic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539A130C-0FDF-D8C1-F5A0-7D5F21F30BD8}"/>
              </a:ext>
            </a:extLst>
          </p:cNvPr>
          <p:cNvSpPr/>
          <p:nvPr/>
        </p:nvSpPr>
        <p:spPr>
          <a:xfrm>
            <a:off x="3311751" y="1277608"/>
            <a:ext cx="5568493" cy="5492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Ambiente  </a:t>
            </a:r>
            <a:r>
              <a:rPr lang="it-IT" i="1" dirty="0" err="1">
                <a:solidFill>
                  <a:schemeClr val="tx1"/>
                </a:solidFill>
              </a:rPr>
              <a:t>p</a:t>
            </a:r>
            <a:r>
              <a:rPr lang="it-IT" i="1" baseline="-25000" dirty="0" err="1">
                <a:solidFill>
                  <a:schemeClr val="tx1"/>
                </a:solidFill>
              </a:rPr>
              <a:t>err</a:t>
            </a:r>
            <a:r>
              <a:rPr lang="it-IT" i="1" baseline="-25000" dirty="0">
                <a:solidFill>
                  <a:schemeClr val="tx1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= 0.001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28D5617F-669E-23C2-8DE2-60B587DE55A0}"/>
              </a:ext>
            </a:extLst>
          </p:cNvPr>
          <p:cNvSpPr txBox="1"/>
          <p:nvPr/>
        </p:nvSpPr>
        <p:spPr>
          <a:xfrm>
            <a:off x="917794" y="5640722"/>
            <a:ext cx="10356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La </a:t>
            </a:r>
            <a:r>
              <a:rPr lang="it-IT" sz="1600" b="1" i="1" dirty="0" err="1"/>
              <a:t>Logical</a:t>
            </a:r>
            <a:r>
              <a:rPr lang="it-IT" sz="1600" b="1" i="1" dirty="0"/>
              <a:t> </a:t>
            </a:r>
            <a:r>
              <a:rPr lang="it-IT" sz="1600" b="1" i="1" dirty="0" err="1"/>
              <a:t>Lifetime</a:t>
            </a:r>
            <a:r>
              <a:rPr lang="it-IT" sz="1600" b="1" i="1" dirty="0"/>
              <a:t> </a:t>
            </a:r>
            <a:r>
              <a:rPr lang="it-IT" sz="1600" dirty="0"/>
              <a:t>è stata scelta come metrica principale, in sostituzione della Ricompensa standard RL, per fornire una valutazione </a:t>
            </a:r>
            <a:r>
              <a:rPr lang="it-IT" sz="1600" i="1" dirty="0"/>
              <a:t>fisica</a:t>
            </a:r>
            <a:r>
              <a:rPr lang="it-IT" sz="1600" dirty="0"/>
              <a:t> e diretta dell'efficacia del decoder.</a:t>
            </a:r>
            <a:endParaRPr lang="it-IT" sz="1600" i="1" dirty="0"/>
          </a:p>
        </p:txBody>
      </p:sp>
      <p:sp>
        <p:nvSpPr>
          <p:cNvPr id="62" name="Segnaposto data 61">
            <a:extLst>
              <a:ext uri="{FF2B5EF4-FFF2-40B4-BE49-F238E27FC236}">
                <a16:creationId xmlns:a16="http://schemas.microsoft.com/office/drawing/2014/main" id="{1F250AB6-1C22-72D7-4FC7-A9A2A056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63" name="Segnaposto piè di pagina 62">
            <a:extLst>
              <a:ext uri="{FF2B5EF4-FFF2-40B4-BE49-F238E27FC236}">
                <a16:creationId xmlns:a16="http://schemas.microsoft.com/office/drawing/2014/main" id="{B9687868-8D5F-C41A-628A-67E49F20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64" name="Segnaposto numero diapositiva 63">
            <a:extLst>
              <a:ext uri="{FF2B5EF4-FFF2-40B4-BE49-F238E27FC236}">
                <a16:creationId xmlns:a16="http://schemas.microsoft.com/office/drawing/2014/main" id="{AD92CBE7-35D3-1710-27FB-752C09E24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38943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3C968-AF7D-BF72-6B5C-CC55BF553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DEA18C-D5E6-97F9-7E29-E31EAA515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sperimentali: DDQN vs DDQN + PPR (</a:t>
            </a:r>
            <a:r>
              <a:rPr lang="it-IT" dirty="0" err="1"/>
              <a:t>cont</a:t>
            </a:r>
            <a:r>
              <a:rPr lang="it-IT" dirty="0"/>
              <a:t>.)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6AFF8113-C427-EB85-040D-3E0DE311E4C4}"/>
              </a:ext>
            </a:extLst>
          </p:cNvPr>
          <p:cNvSpPr/>
          <p:nvPr/>
        </p:nvSpPr>
        <p:spPr>
          <a:xfrm>
            <a:off x="1822785" y="1445774"/>
            <a:ext cx="3141601" cy="5492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Ambiente  </a:t>
            </a:r>
            <a:r>
              <a:rPr lang="it-IT" i="1" dirty="0" err="1">
                <a:solidFill>
                  <a:schemeClr val="tx1"/>
                </a:solidFill>
              </a:rPr>
              <a:t>p</a:t>
            </a:r>
            <a:r>
              <a:rPr lang="it-IT" i="1" baseline="-25000" dirty="0" err="1">
                <a:solidFill>
                  <a:schemeClr val="tx1"/>
                </a:solidFill>
              </a:rPr>
              <a:t>err</a:t>
            </a:r>
            <a:r>
              <a:rPr lang="it-IT" i="1" baseline="-25000" dirty="0">
                <a:solidFill>
                  <a:schemeClr val="tx1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= 0.007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D1444339-06A5-0456-0D89-6A7096F77E82}"/>
              </a:ext>
            </a:extLst>
          </p:cNvPr>
          <p:cNvSpPr/>
          <p:nvPr/>
        </p:nvSpPr>
        <p:spPr>
          <a:xfrm>
            <a:off x="7620645" y="1445773"/>
            <a:ext cx="3141601" cy="5492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Ambiente  </a:t>
            </a:r>
            <a:r>
              <a:rPr lang="it-IT" i="1" dirty="0" err="1">
                <a:solidFill>
                  <a:schemeClr val="tx1"/>
                </a:solidFill>
              </a:rPr>
              <a:t>p</a:t>
            </a:r>
            <a:r>
              <a:rPr lang="it-IT" i="1" baseline="-25000" dirty="0" err="1">
                <a:solidFill>
                  <a:schemeClr val="tx1"/>
                </a:solidFill>
              </a:rPr>
              <a:t>err</a:t>
            </a:r>
            <a:r>
              <a:rPr lang="it-IT" i="1" baseline="-25000" dirty="0">
                <a:solidFill>
                  <a:schemeClr val="tx1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= 0.009</a:t>
            </a:r>
          </a:p>
        </p:txBody>
      </p:sp>
      <p:pic>
        <p:nvPicPr>
          <p:cNvPr id="43" name="Immagine 42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F63FDDD8-02BE-9540-39B2-43D21DEAE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08" y="2201057"/>
            <a:ext cx="5390399" cy="3561595"/>
          </a:xfrm>
          <a:prstGeom prst="rect">
            <a:avLst/>
          </a:prstGeom>
        </p:spPr>
      </p:pic>
      <p:pic>
        <p:nvPicPr>
          <p:cNvPr id="45" name="Immagine 44" descr="Immagine che contiene testo, line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E25E34F6-F70B-F34A-13E2-C896FFC468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92" y="2201056"/>
            <a:ext cx="5390399" cy="3561595"/>
          </a:xfrm>
          <a:prstGeom prst="rect">
            <a:avLst/>
          </a:prstGeom>
        </p:spPr>
      </p:pic>
      <p:pic>
        <p:nvPicPr>
          <p:cNvPr id="3" name="Immagine 2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DFE99010-66F8-D5CB-B136-F2FC877E5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286" y="3572898"/>
            <a:ext cx="3382406" cy="2613677"/>
          </a:xfrm>
          <a:prstGeom prst="rect">
            <a:avLst/>
          </a:prstGeom>
        </p:spPr>
      </p:pic>
      <p:pic>
        <p:nvPicPr>
          <p:cNvPr id="4" name="Immagine 3" descr="Immagine che contiene testo, schermata, linea, numero&#10;&#10;Il contenuto generato dall'IA potrebbe non essere corretto.">
            <a:extLst>
              <a:ext uri="{FF2B5EF4-FFF2-40B4-BE49-F238E27FC236}">
                <a16:creationId xmlns:a16="http://schemas.microsoft.com/office/drawing/2014/main" id="{9B28F734-13A9-B1E8-E796-9559B7CA45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270" y="3572898"/>
            <a:ext cx="3382406" cy="2613677"/>
          </a:xfrm>
          <a:prstGeom prst="rect">
            <a:avLst/>
          </a:prstGeom>
        </p:spPr>
      </p:pic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137955B-D701-E9DC-3110-E4481969C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7873DB2-9E8C-2A03-1A76-B135129F8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47E3C4E-86C1-0286-EC10-FFADCC4A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50142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CE7591-1BDF-7CBF-952A-5368D3B6D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sperimentali: Analisi </a:t>
            </a:r>
            <a:r>
              <a:rPr lang="it-IT" i="1" dirty="0" err="1"/>
              <a:t>Logical</a:t>
            </a:r>
            <a:r>
              <a:rPr lang="it-IT" i="1" dirty="0"/>
              <a:t> </a:t>
            </a:r>
            <a:r>
              <a:rPr lang="it-IT" i="1" dirty="0" err="1"/>
              <a:t>Lifetime</a:t>
            </a:r>
            <a:endParaRPr lang="it-IT" dirty="0"/>
          </a:p>
        </p:txBody>
      </p:sp>
      <p:pic>
        <p:nvPicPr>
          <p:cNvPr id="5" name="Immagine 4" descr="Immagine che contiene testo, linea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395FC6BB-1514-CFD6-1AC5-B7B1FFCD8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1861" y="3628737"/>
            <a:ext cx="3940535" cy="2592457"/>
          </a:xfrm>
          <a:prstGeom prst="rect">
            <a:avLst/>
          </a:prstGeom>
        </p:spPr>
      </p:pic>
      <p:pic>
        <p:nvPicPr>
          <p:cNvPr id="7" name="Immagine 6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46EB8FBF-B797-768E-347F-7E96FA541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92" y="2941094"/>
            <a:ext cx="4731454" cy="3126211"/>
          </a:xfrm>
          <a:prstGeom prst="rect">
            <a:avLst/>
          </a:prstGeom>
        </p:spPr>
      </p:pic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AA7BC63E-925F-83EB-EE21-4E9A615767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850934"/>
              </p:ext>
            </p:extLst>
          </p:nvPr>
        </p:nvGraphicFramePr>
        <p:xfrm>
          <a:off x="6808557" y="1404719"/>
          <a:ext cx="4947145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735">
                  <a:extLst>
                    <a:ext uri="{9D8B030D-6E8A-4147-A177-3AD203B41FA5}">
                      <a16:colId xmlns:a16="http://schemas.microsoft.com/office/drawing/2014/main" val="1990082952"/>
                    </a:ext>
                  </a:extLst>
                </a:gridCol>
                <a:gridCol w="1063190">
                  <a:extLst>
                    <a:ext uri="{9D8B030D-6E8A-4147-A177-3AD203B41FA5}">
                      <a16:colId xmlns:a16="http://schemas.microsoft.com/office/drawing/2014/main" val="2714547795"/>
                    </a:ext>
                  </a:extLst>
                </a:gridCol>
                <a:gridCol w="1430380">
                  <a:extLst>
                    <a:ext uri="{9D8B030D-6E8A-4147-A177-3AD203B41FA5}">
                      <a16:colId xmlns:a16="http://schemas.microsoft.com/office/drawing/2014/main" val="2081137199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1632920991"/>
                    </a:ext>
                  </a:extLst>
                </a:gridCol>
              </a:tblGrid>
              <a:tr h="421790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Ambiente</a:t>
                      </a:r>
                      <a:br>
                        <a:rPr lang="it-IT" sz="1400" dirty="0"/>
                      </a:br>
                      <a:r>
                        <a:rPr lang="it-IT" sz="1400" i="1" dirty="0" err="1">
                          <a:solidFill>
                            <a:schemeClr val="bg1"/>
                          </a:solidFill>
                        </a:rPr>
                        <a:t>p</a:t>
                      </a:r>
                      <a:r>
                        <a:rPr lang="it-IT" sz="1400" i="1" baseline="-25000" dirty="0" err="1">
                          <a:solidFill>
                            <a:schemeClr val="bg1"/>
                          </a:solidFill>
                        </a:rPr>
                        <a:t>err</a:t>
                      </a:r>
                      <a:endParaRPr lang="it-IT" sz="1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/>
                        <a:t>Qubit</a:t>
                      </a:r>
                      <a:r>
                        <a:rPr lang="it-IT" sz="1400" dirty="0"/>
                        <a:t> fisico</a:t>
                      </a:r>
                      <a:br>
                        <a:rPr lang="it-IT" sz="1400" dirty="0"/>
                      </a:br>
                      <a:r>
                        <a:rPr lang="it-IT" sz="1400" i="1" dirty="0" err="1"/>
                        <a:t>Lifetime</a:t>
                      </a:r>
                      <a:endParaRPr lang="it-IT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DDQN</a:t>
                      </a:r>
                      <a:br>
                        <a:rPr lang="it-IT" sz="1400" dirty="0"/>
                      </a:br>
                      <a:r>
                        <a:rPr lang="it-IT" sz="1400" i="1" dirty="0" err="1"/>
                        <a:t>Logical</a:t>
                      </a:r>
                      <a:r>
                        <a:rPr lang="it-IT" sz="1400" i="1" dirty="0"/>
                        <a:t> </a:t>
                      </a:r>
                      <a:r>
                        <a:rPr lang="it-IT" sz="1400" i="1" dirty="0" err="1"/>
                        <a:t>Lifetime</a:t>
                      </a:r>
                      <a:endParaRPr lang="it-IT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DDQN + PPR</a:t>
                      </a:r>
                      <a:br>
                        <a:rPr lang="it-IT" sz="1400" dirty="0"/>
                      </a:br>
                      <a:r>
                        <a:rPr lang="it-IT" sz="1400" i="1" dirty="0" err="1"/>
                        <a:t>Logical</a:t>
                      </a:r>
                      <a:r>
                        <a:rPr lang="it-IT" sz="1400" i="1" dirty="0"/>
                        <a:t> </a:t>
                      </a:r>
                      <a:r>
                        <a:rPr lang="it-IT" sz="1400" i="1" dirty="0" err="1"/>
                        <a:t>Lifetime</a:t>
                      </a:r>
                      <a:endParaRPr lang="it-IT" sz="14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159570"/>
                  </a:ext>
                </a:extLst>
              </a:tr>
              <a:tr h="24811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16723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⁄</a:t>
                      </a:r>
                      <a:endParaRPr lang="it-IT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786321"/>
                  </a:ext>
                </a:extLst>
              </a:tr>
              <a:tr h="24811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2066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582701"/>
                  </a:ext>
                </a:extLst>
              </a:tr>
              <a:tr h="24811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611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051292"/>
                  </a:ext>
                </a:extLst>
              </a:tr>
              <a:tr h="24811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050798"/>
                  </a:ext>
                </a:extLst>
              </a:tr>
              <a:tr h="24811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878965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C8BA475-55A6-5C44-0FAF-6EA0E5F9FE42}"/>
              </a:ext>
            </a:extLst>
          </p:cNvPr>
          <p:cNvSpPr txBox="1"/>
          <p:nvPr/>
        </p:nvSpPr>
        <p:spPr>
          <a:xfrm>
            <a:off x="348246" y="1403300"/>
            <a:ext cx="58087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Natura </a:t>
            </a:r>
            <a:r>
              <a:rPr lang="it-IT" sz="1600" b="1" dirty="0" err="1"/>
              <a:t>poissoniana</a:t>
            </a:r>
            <a:r>
              <a:rPr lang="it-IT" sz="1600" b="1" dirty="0"/>
              <a:t> </a:t>
            </a:r>
            <a:r>
              <a:rPr lang="it-IT" sz="1600" dirty="0"/>
              <a:t>degli errori logici: il decoder migliora la </a:t>
            </a:r>
            <a:r>
              <a:rPr lang="it-IT" sz="1600" i="1" dirty="0" err="1"/>
              <a:t>Logical</a:t>
            </a:r>
            <a:r>
              <a:rPr lang="it-IT" sz="1600" i="1" dirty="0"/>
              <a:t> </a:t>
            </a:r>
            <a:r>
              <a:rPr lang="it-IT" sz="1600" i="1" dirty="0" err="1"/>
              <a:t>Lifetime</a:t>
            </a:r>
            <a:r>
              <a:rPr lang="it-IT" sz="1600" dirty="0"/>
              <a:t>, ma non modifica la forma della distribuzione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Stime concrete</a:t>
            </a:r>
            <a:r>
              <a:rPr lang="it-IT" sz="1600" dirty="0"/>
              <a:t>: </a:t>
            </a:r>
            <a:r>
              <a:rPr lang="it-IT" sz="1600" i="1" dirty="0" err="1"/>
              <a:t>Logical</a:t>
            </a:r>
            <a:r>
              <a:rPr lang="it-IT" sz="1600" i="1" dirty="0"/>
              <a:t> </a:t>
            </a:r>
            <a:r>
              <a:rPr lang="it-IT" sz="1600" i="1" dirty="0" err="1"/>
              <a:t>Lifetime</a:t>
            </a:r>
            <a:r>
              <a:rPr lang="it-IT" sz="1600" dirty="0"/>
              <a:t> in condizioni </a:t>
            </a:r>
            <a:r>
              <a:rPr lang="it-IT" sz="1600" i="1" dirty="0" err="1"/>
              <a:t>faulty</a:t>
            </a:r>
            <a:r>
              <a:rPr lang="it-IT" sz="1600" dirty="0"/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Limite pratico</a:t>
            </a:r>
            <a:r>
              <a:rPr lang="it-IT" sz="1600" dirty="0"/>
              <a:t>: Impatto della crescente ambiguità della sindrome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833C7D9-A47B-19B2-2111-729B1007D7CF}"/>
              </a:ext>
            </a:extLst>
          </p:cNvPr>
          <p:cNvSpPr txBox="1"/>
          <p:nvPr/>
        </p:nvSpPr>
        <p:spPr>
          <a:xfrm>
            <a:off x="274674" y="6067305"/>
            <a:ext cx="6460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Esempio: Distribuzione </a:t>
            </a:r>
            <a:r>
              <a:rPr lang="it-IT" sz="1400" i="1" dirty="0" err="1"/>
              <a:t>Logical</a:t>
            </a:r>
            <a:r>
              <a:rPr lang="it-IT" sz="1400" i="1" dirty="0"/>
              <a:t> </a:t>
            </a:r>
            <a:r>
              <a:rPr lang="it-IT" sz="1400" i="1" dirty="0" err="1"/>
              <a:t>Lifetime</a:t>
            </a:r>
            <a:r>
              <a:rPr lang="it-IT" sz="1400" i="1" dirty="0"/>
              <a:t> </a:t>
            </a:r>
            <a:r>
              <a:rPr lang="it-IT" sz="1400" dirty="0"/>
              <a:t>del test policy DDQN + PPR in </a:t>
            </a:r>
            <a:r>
              <a:rPr lang="it-IT" sz="1400" dirty="0" err="1"/>
              <a:t>amb</a:t>
            </a:r>
            <a:r>
              <a:rPr lang="it-IT" sz="1400" dirty="0"/>
              <a:t>. </a:t>
            </a:r>
            <a:r>
              <a:rPr lang="it-IT" sz="1400" i="1" dirty="0" err="1"/>
              <a:t>p</a:t>
            </a:r>
            <a:r>
              <a:rPr lang="it-IT" sz="1400" i="1" baseline="-25000" dirty="0" err="1"/>
              <a:t>err</a:t>
            </a:r>
            <a:r>
              <a:rPr lang="it-IT" sz="1400" dirty="0"/>
              <a:t> = 0.009</a:t>
            </a:r>
          </a:p>
        </p:txBody>
      </p:sp>
      <p:sp>
        <p:nvSpPr>
          <p:cNvPr id="14" name="Segnaposto data 13">
            <a:extLst>
              <a:ext uri="{FF2B5EF4-FFF2-40B4-BE49-F238E27FC236}">
                <a16:creationId xmlns:a16="http://schemas.microsoft.com/office/drawing/2014/main" id="{8D66EDA3-C6C4-5B4A-CB4D-C3BD7F24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06F4BEFD-D644-2257-A3BB-A5A9066C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D2E62586-C2EE-D0AD-3E92-AFA324CD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2027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236267-564D-AB39-C17C-379CD384D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 e prospettive future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DC787E5-FA76-05C0-D602-C7E78A6C9820}"/>
              </a:ext>
            </a:extLst>
          </p:cNvPr>
          <p:cNvSpPr/>
          <p:nvPr/>
        </p:nvSpPr>
        <p:spPr>
          <a:xfrm>
            <a:off x="3515360" y="3334467"/>
            <a:ext cx="5161280" cy="4775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Prospettive future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AE788C3-C473-06DA-7C2A-F428AC35F1E3}"/>
              </a:ext>
            </a:extLst>
          </p:cNvPr>
          <p:cNvSpPr/>
          <p:nvPr/>
        </p:nvSpPr>
        <p:spPr>
          <a:xfrm>
            <a:off x="3515360" y="1284533"/>
            <a:ext cx="5161280" cy="4775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Dati sperimentali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EDC9FFF-C594-1466-5DE9-0CE24B3B6246}"/>
              </a:ext>
            </a:extLst>
          </p:cNvPr>
          <p:cNvSpPr txBox="1"/>
          <p:nvPr/>
        </p:nvSpPr>
        <p:spPr>
          <a:xfrm>
            <a:off x="892810" y="1912939"/>
            <a:ext cx="1084199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b="1" dirty="0"/>
              <a:t>Potenzialità decoder:</a:t>
            </a:r>
            <a:r>
              <a:rPr lang="it-IT" sz="1700" dirty="0"/>
              <a:t> aumento significativo della </a:t>
            </a:r>
            <a:r>
              <a:rPr lang="it-IT" sz="1700" i="1" dirty="0" err="1"/>
              <a:t>Logical</a:t>
            </a:r>
            <a:r>
              <a:rPr lang="it-IT" sz="1700" i="1" dirty="0"/>
              <a:t> </a:t>
            </a:r>
            <a:r>
              <a:rPr lang="it-IT" sz="1700" i="1" dirty="0" err="1"/>
              <a:t>Lifetime</a:t>
            </a:r>
            <a:r>
              <a:rPr lang="it-IT" sz="1700" dirty="0"/>
              <a:t>, contestualizzato alla complessità di ogni ambiente.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b="1" dirty="0"/>
              <a:t>Efficienza PPR: </a:t>
            </a:r>
            <a:r>
              <a:rPr lang="it-IT" sz="1700" dirty="0"/>
              <a:t>convergenza più rapida del 20-30% rispetto a DDQN tradizionale.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DA52B12-A17F-99D9-F218-D8EEC5B0FBEA}"/>
              </a:ext>
            </a:extLst>
          </p:cNvPr>
          <p:cNvSpPr txBox="1"/>
          <p:nvPr/>
        </p:nvSpPr>
        <p:spPr>
          <a:xfrm>
            <a:off x="1381760" y="2561522"/>
            <a:ext cx="94284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dirty="0"/>
              <a:t>I dati ottenuti rappresentano un primo risultato promettente che conferma la validità dei metodi proposti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9F57DE0-7E0F-49C4-3643-3F558890CF37}"/>
              </a:ext>
            </a:extLst>
          </p:cNvPr>
          <p:cNvSpPr txBox="1"/>
          <p:nvPr/>
        </p:nvSpPr>
        <p:spPr>
          <a:xfrm>
            <a:off x="892810" y="3899505"/>
            <a:ext cx="1084199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b="1" dirty="0"/>
              <a:t>Ottimizzazione HPC</a:t>
            </a:r>
            <a:r>
              <a:rPr lang="it-IT" sz="1700" dirty="0"/>
              <a:t>: impiego di risorse </a:t>
            </a:r>
            <a:r>
              <a:rPr lang="it-IT" sz="1700" i="1" dirty="0"/>
              <a:t>High Performance Computing </a:t>
            </a:r>
            <a:r>
              <a:rPr lang="it-IT" sz="1700" dirty="0"/>
              <a:t>per ottimizzazione più approfondita dei parametri di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b="1" dirty="0"/>
              <a:t>Gestione adattiva di </a:t>
            </a:r>
            <a:r>
              <a:rPr lang="el-GR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it-IT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l-GR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ψ</a:t>
            </a:r>
            <a:r>
              <a:rPr lang="it-IT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it-IT" sz="1700" dirty="0"/>
              <a:t> regolazione dinamica basata sul contesto ambientale e sulla somiglianza del rumore per ottimizzare l'adattamento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b="1" i="1" dirty="0"/>
              <a:t>(</a:t>
            </a:r>
            <a:r>
              <a:rPr lang="it-IT" sz="1700" b="1" i="1" dirty="0" err="1"/>
              <a:t>Probabilistic</a:t>
            </a:r>
            <a:r>
              <a:rPr lang="it-IT" sz="1700" b="1" i="1" dirty="0"/>
              <a:t>) Policy </a:t>
            </a:r>
            <a:r>
              <a:rPr lang="it-IT" sz="1700" b="1" i="1" dirty="0" err="1"/>
              <a:t>Selection</a:t>
            </a:r>
            <a:r>
              <a:rPr lang="it-IT" sz="1700" b="1" i="1" dirty="0"/>
              <a:t>:</a:t>
            </a:r>
            <a:r>
              <a:rPr lang="it-IT" sz="1700" dirty="0"/>
              <a:t> Meccanismo di selezione dinamica della policy per ambienti soggetti a rumore variabile (</a:t>
            </a:r>
            <a:r>
              <a:rPr lang="it-IT" sz="1700" i="1" dirty="0"/>
              <a:t>drift</a:t>
            </a:r>
            <a:r>
              <a:rPr lang="it-IT" sz="17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700" b="1" dirty="0" err="1"/>
              <a:t>Qubit</a:t>
            </a:r>
            <a:r>
              <a:rPr lang="it-IT" sz="1700" b="1" dirty="0"/>
              <a:t> reali: </a:t>
            </a:r>
            <a:r>
              <a:rPr lang="it-IT" sz="1700" dirty="0"/>
              <a:t>utilizzo di </a:t>
            </a:r>
            <a:r>
              <a:rPr lang="it-IT" sz="1700" i="1" dirty="0" err="1"/>
              <a:t>qubit</a:t>
            </a:r>
            <a:r>
              <a:rPr lang="it-IT" sz="1700" i="1" dirty="0"/>
              <a:t> superconduttivi </a:t>
            </a:r>
            <a:r>
              <a:rPr lang="it-IT" sz="1700" dirty="0"/>
              <a:t>per simulazioni avanzate e implementazione sperimentale</a:t>
            </a:r>
          </a:p>
        </p:txBody>
      </p:sp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C678C46B-934E-3201-31D2-5B178B90821F}"/>
              </a:ext>
            </a:extLst>
          </p:cNvPr>
          <p:cNvSpPr/>
          <p:nvPr/>
        </p:nvSpPr>
        <p:spPr>
          <a:xfrm>
            <a:off x="829800" y="2635968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Segnaposto data 14">
            <a:extLst>
              <a:ext uri="{FF2B5EF4-FFF2-40B4-BE49-F238E27FC236}">
                <a16:creationId xmlns:a16="http://schemas.microsoft.com/office/drawing/2014/main" id="{1072C383-78A2-FEC1-F267-0CBF05ADD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16" name="Segnaposto piè di pagina 15">
            <a:extLst>
              <a:ext uri="{FF2B5EF4-FFF2-40B4-BE49-F238E27FC236}">
                <a16:creationId xmlns:a16="http://schemas.microsoft.com/office/drawing/2014/main" id="{BF69EC99-0E0C-0532-713C-8274FA146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17" name="Segnaposto numero diapositiva 16">
            <a:extLst>
              <a:ext uri="{FF2B5EF4-FFF2-40B4-BE49-F238E27FC236}">
                <a16:creationId xmlns:a16="http://schemas.microsoft.com/office/drawing/2014/main" id="{98E4824C-E271-7244-3AD0-7812D40D7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10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C968945-F0E9-6FA7-4C28-1CA09EB1419B}"/>
              </a:ext>
            </a:extLst>
          </p:cNvPr>
          <p:cNvSpPr txBox="1"/>
          <p:nvPr/>
        </p:nvSpPr>
        <p:spPr>
          <a:xfrm>
            <a:off x="41559" y="6146475"/>
            <a:ext cx="99558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[</a:t>
            </a:r>
            <a:r>
              <a:rPr lang="it-IT" sz="1400" i="1" dirty="0" err="1"/>
              <a:t>Sivak</a:t>
            </a:r>
            <a:r>
              <a:rPr lang="it-IT" sz="1400" i="1" dirty="0"/>
              <a:t> et al., </a:t>
            </a:r>
            <a:r>
              <a:rPr lang="it-IT" sz="1400" i="1" dirty="0" err="1"/>
              <a:t>Reinforcement</a:t>
            </a:r>
            <a:r>
              <a:rPr lang="it-IT" sz="1400" i="1" dirty="0"/>
              <a:t> Learning Control of Quantum </a:t>
            </a:r>
            <a:r>
              <a:rPr lang="it-IT" sz="1400" i="1" dirty="0" err="1"/>
              <a:t>Error</a:t>
            </a:r>
            <a:r>
              <a:rPr lang="it-IT" sz="1400" i="1" dirty="0"/>
              <a:t> </a:t>
            </a:r>
            <a:r>
              <a:rPr lang="it-IT" sz="1400" i="1" dirty="0" err="1"/>
              <a:t>Correction</a:t>
            </a:r>
            <a:r>
              <a:rPr lang="it-IT" sz="1400" i="1" dirty="0"/>
              <a:t> (Google Quantum AI, 2025)</a:t>
            </a:r>
            <a:r>
              <a:rPr lang="it-IT" sz="1400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090469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2415523D-980C-498C-08B9-5BA0AB4AD17E}"/>
              </a:ext>
            </a:extLst>
          </p:cNvPr>
          <p:cNvSpPr/>
          <p:nvPr/>
        </p:nvSpPr>
        <p:spPr>
          <a:xfrm>
            <a:off x="1498600" y="2877820"/>
            <a:ext cx="9194800" cy="110236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3600" dirty="0">
                <a:solidFill>
                  <a:schemeClr val="tx1"/>
                </a:solidFill>
              </a:rPr>
              <a:t>Grazie per l’attenzione!</a:t>
            </a:r>
          </a:p>
        </p:txBody>
      </p:sp>
      <p:sp>
        <p:nvSpPr>
          <p:cNvPr id="11" name="Segnaposto data 10">
            <a:extLst>
              <a:ext uri="{FF2B5EF4-FFF2-40B4-BE49-F238E27FC236}">
                <a16:creationId xmlns:a16="http://schemas.microsoft.com/office/drawing/2014/main" id="{330C3733-4BB3-5C01-1C53-99D7A40C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12" name="Segnaposto piè di pagina 11">
            <a:extLst>
              <a:ext uri="{FF2B5EF4-FFF2-40B4-BE49-F238E27FC236}">
                <a16:creationId xmlns:a16="http://schemas.microsoft.com/office/drawing/2014/main" id="{83073C1C-CB9A-671C-A9AE-20575D0E6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13" name="Segnaposto numero diapositiva 12">
            <a:extLst>
              <a:ext uri="{FF2B5EF4-FFF2-40B4-BE49-F238E27FC236}">
                <a16:creationId xmlns:a16="http://schemas.microsoft.com/office/drawing/2014/main" id="{22CF21F9-1280-5910-A7BC-809671F7F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48387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30840C-A68B-3380-43F1-557EE60A5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 sperimentali: DDQN vs DDQN + PPR </a:t>
            </a:r>
          </a:p>
        </p:txBody>
      </p:sp>
      <p:pic>
        <p:nvPicPr>
          <p:cNvPr id="15" name="Immagine 14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6A9D45E1-3675-64A3-19D7-99744EC97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09" y="2201056"/>
            <a:ext cx="5390399" cy="3561595"/>
          </a:xfrm>
          <a:prstGeom prst="rect">
            <a:avLst/>
          </a:prstGeom>
        </p:spPr>
      </p:pic>
      <p:pic>
        <p:nvPicPr>
          <p:cNvPr id="16" name="Immagine 15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8BD4B5C-319C-86FD-68AF-EF572A5CD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692" y="2201057"/>
            <a:ext cx="5390399" cy="3561595"/>
          </a:xfrm>
          <a:prstGeom prst="rect">
            <a:avLst/>
          </a:prstGeom>
        </p:spPr>
      </p:pic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E720A4C9-9F36-5BEF-1F23-50705C46FB1A}"/>
              </a:ext>
            </a:extLst>
          </p:cNvPr>
          <p:cNvSpPr/>
          <p:nvPr/>
        </p:nvSpPr>
        <p:spPr>
          <a:xfrm>
            <a:off x="1822785" y="1445774"/>
            <a:ext cx="3141601" cy="5492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Ambiente  </a:t>
            </a:r>
            <a:r>
              <a:rPr lang="it-IT" i="1" dirty="0" err="1">
                <a:solidFill>
                  <a:schemeClr val="tx1"/>
                </a:solidFill>
              </a:rPr>
              <a:t>p</a:t>
            </a:r>
            <a:r>
              <a:rPr lang="it-IT" i="1" baseline="-25000" dirty="0" err="1">
                <a:solidFill>
                  <a:schemeClr val="tx1"/>
                </a:solidFill>
              </a:rPr>
              <a:t>err</a:t>
            </a:r>
            <a:r>
              <a:rPr lang="it-IT" i="1" baseline="-25000" dirty="0">
                <a:solidFill>
                  <a:schemeClr val="tx1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= 0.003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F204A028-C45C-CC32-1BAF-12835986F98E}"/>
              </a:ext>
            </a:extLst>
          </p:cNvPr>
          <p:cNvSpPr/>
          <p:nvPr/>
        </p:nvSpPr>
        <p:spPr>
          <a:xfrm>
            <a:off x="7620645" y="1445773"/>
            <a:ext cx="3141601" cy="5492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Ambiente  </a:t>
            </a:r>
            <a:r>
              <a:rPr lang="it-IT" i="1" dirty="0" err="1">
                <a:solidFill>
                  <a:schemeClr val="tx1"/>
                </a:solidFill>
              </a:rPr>
              <a:t>p</a:t>
            </a:r>
            <a:r>
              <a:rPr lang="it-IT" i="1" baseline="-25000" dirty="0" err="1">
                <a:solidFill>
                  <a:schemeClr val="tx1"/>
                </a:solidFill>
              </a:rPr>
              <a:t>err</a:t>
            </a:r>
            <a:r>
              <a:rPr lang="it-IT" i="1" baseline="-25000" dirty="0">
                <a:solidFill>
                  <a:schemeClr val="tx1"/>
                </a:solidFill>
              </a:rPr>
              <a:t> </a:t>
            </a:r>
            <a:r>
              <a:rPr lang="it-IT" dirty="0">
                <a:solidFill>
                  <a:schemeClr val="tx1"/>
                </a:solidFill>
              </a:rPr>
              <a:t>= 0.005</a:t>
            </a:r>
          </a:p>
        </p:txBody>
      </p:sp>
      <p:sp>
        <p:nvSpPr>
          <p:cNvPr id="21" name="Segnaposto data 20">
            <a:extLst>
              <a:ext uri="{FF2B5EF4-FFF2-40B4-BE49-F238E27FC236}">
                <a16:creationId xmlns:a16="http://schemas.microsoft.com/office/drawing/2014/main" id="{8196D978-1756-29F2-8245-CCE2866B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22" name="Segnaposto piè di pagina 21">
            <a:extLst>
              <a:ext uri="{FF2B5EF4-FFF2-40B4-BE49-F238E27FC236}">
                <a16:creationId xmlns:a16="http://schemas.microsoft.com/office/drawing/2014/main" id="{CACAC56A-C814-A0CB-5F54-BF1BBE770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23" name="Segnaposto numero diapositiva 22">
            <a:extLst>
              <a:ext uri="{FF2B5EF4-FFF2-40B4-BE49-F238E27FC236}">
                <a16:creationId xmlns:a16="http://schemas.microsoft.com/office/drawing/2014/main" id="{05914D8E-9B3A-4BAF-7ACB-E1D4EBE1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82332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C39D4B-BE18-05E4-89D7-8F7239B7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/>
              <a:t>Quantum gate, diagrammi di circuito e modelli di rumore</a:t>
            </a:r>
            <a:endParaRPr lang="it-IT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43DC2C9-0347-58A1-9CCD-BD4B48B355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59" r="7975"/>
          <a:stretch>
            <a:fillRect/>
          </a:stretch>
        </p:blipFill>
        <p:spPr>
          <a:xfrm>
            <a:off x="2302507" y="1936158"/>
            <a:ext cx="1024890" cy="64217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D9418CB-5A1D-B39F-67A1-E21F2A2E7F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95" r="6305"/>
          <a:stretch>
            <a:fillRect/>
          </a:stretch>
        </p:blipFill>
        <p:spPr>
          <a:xfrm>
            <a:off x="2260598" y="2822595"/>
            <a:ext cx="1055073" cy="64217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D6ECD887-736C-A603-D135-3634723275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49" r="7990"/>
          <a:stretch>
            <a:fillRect/>
          </a:stretch>
        </p:blipFill>
        <p:spPr>
          <a:xfrm>
            <a:off x="2295840" y="3716193"/>
            <a:ext cx="1004309" cy="556739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921B07BE-B9C0-8DFF-7E5A-F69A001A2A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2027" y="4902964"/>
            <a:ext cx="1066799" cy="82447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D6B8FD3D-7DD3-CF3F-E7C4-6854AF4C4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5370" y="2033908"/>
            <a:ext cx="1077216" cy="444213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9D816C19-0804-B93E-F9D2-69A1F43677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7465" y="2913245"/>
            <a:ext cx="1166059" cy="460871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94A797F6-05D4-96C2-24EC-D2C37801B8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5644" y="3739139"/>
            <a:ext cx="1027242" cy="510845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CF45BA90-C117-AD29-8534-DAC73BB2F4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65370" y="5041330"/>
            <a:ext cx="1798476" cy="906859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1E6C182-E3E5-3A2C-DD5F-135B7D66ADE9}"/>
              </a:ext>
            </a:extLst>
          </p:cNvPr>
          <p:cNvSpPr txBox="1"/>
          <p:nvPr/>
        </p:nvSpPr>
        <p:spPr>
          <a:xfrm>
            <a:off x="515807" y="2116339"/>
            <a:ext cx="19377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i="1" dirty="0"/>
              <a:t>X-gate</a:t>
            </a:r>
          </a:p>
          <a:p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i="1" dirty="0"/>
              <a:t>Z-gate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i="1" dirty="0" err="1"/>
              <a:t>Hadamard</a:t>
            </a:r>
            <a:r>
              <a:rPr lang="it-IT" sz="1400" b="1" i="1" dirty="0"/>
              <a:t>-gate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b="1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i="1" dirty="0" err="1"/>
              <a:t>Controlled</a:t>
            </a:r>
            <a:r>
              <a:rPr lang="it-IT" sz="1400" b="1" i="1" dirty="0"/>
              <a:t>-X gate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835DE8D6-5A24-CCEA-5D35-618953771A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0026" y="4876541"/>
            <a:ext cx="1366777" cy="835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55453A37-E3D6-9345-3C39-756C9907F543}"/>
                  </a:ext>
                </a:extLst>
              </p:cNvPr>
              <p:cNvSpPr txBox="1"/>
              <p:nvPr/>
            </p:nvSpPr>
            <p:spPr>
              <a:xfrm>
                <a:off x="5122516" y="2155986"/>
                <a:ext cx="1885773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30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sz="13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it-IT" sz="13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it-IT" sz="1300" i="1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it-IT" sz="1300" i="1">
                          <a:latin typeface="Cambria Math" panose="02040503050406030204" pitchFamily="18" charset="0"/>
                        </a:rPr>
                        <m:t>=|0⟩</m:t>
                      </m:r>
                    </m:oMath>
                  </m:oMathPara>
                </a14:m>
                <a:endParaRPr lang="it-IT" sz="1300" dirty="0"/>
              </a:p>
            </p:txBody>
          </p:sp>
        </mc:Choice>
        <mc:Fallback xmlns="">
          <p:sp>
            <p:nvSpPr>
              <p:cNvPr id="25" name="CasellaDiTesto 24">
                <a:extLst>
                  <a:ext uri="{FF2B5EF4-FFF2-40B4-BE49-F238E27FC236}">
                    <a16:creationId xmlns:a16="http://schemas.microsoft.com/office/drawing/2014/main" id="{55453A37-E3D6-9345-3C39-756C9907F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516" y="2155986"/>
                <a:ext cx="1885773" cy="200055"/>
              </a:xfrm>
              <a:prstGeom prst="rect">
                <a:avLst/>
              </a:prstGeom>
              <a:blipFill>
                <a:blip r:embed="rId11"/>
                <a:stretch>
                  <a:fillRect l="-1290" t="-3125" r="-2581" b="-375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E4AD7095-2EEB-F538-E197-CAFFBAE164A1}"/>
                  </a:ext>
                </a:extLst>
              </p:cNvPr>
              <p:cNvSpPr txBox="1"/>
              <p:nvPr/>
            </p:nvSpPr>
            <p:spPr>
              <a:xfrm>
                <a:off x="5122516" y="3041043"/>
                <a:ext cx="1994777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𝑍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=−|1⟩</m:t>
                      </m:r>
                    </m:oMath>
                  </m:oMathPara>
                </a14:m>
                <a:endParaRPr lang="it-IT" sz="1300" dirty="0"/>
              </a:p>
            </p:txBody>
          </p:sp>
        </mc:Choice>
        <mc:Fallback xmlns="">
          <p:sp>
            <p:nvSpPr>
              <p:cNvPr id="28" name="CasellaDiTesto 27">
                <a:extLst>
                  <a:ext uri="{FF2B5EF4-FFF2-40B4-BE49-F238E27FC236}">
                    <a16:creationId xmlns:a16="http://schemas.microsoft.com/office/drawing/2014/main" id="{E4AD7095-2EEB-F538-E197-CAFFBAE16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516" y="3041043"/>
                <a:ext cx="1994777" cy="200055"/>
              </a:xfrm>
              <a:prstGeom prst="rect">
                <a:avLst/>
              </a:prstGeom>
              <a:blipFill>
                <a:blip r:embed="rId12"/>
                <a:stretch>
                  <a:fillRect l="-1220" t="-3030" r="-2439" b="-3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65A50421-3C5B-8AE0-728A-2E3E9680A8E2}"/>
                  </a:ext>
                </a:extLst>
              </p:cNvPr>
              <p:cNvSpPr txBox="1"/>
              <p:nvPr/>
            </p:nvSpPr>
            <p:spPr>
              <a:xfrm>
                <a:off x="5096355" y="3787933"/>
                <a:ext cx="2020938" cy="4132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3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3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13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it-IT" sz="1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(|0⟩+|1⟩)=|+⟩</m:t>
                      </m:r>
                    </m:oMath>
                  </m:oMathPara>
                </a14:m>
                <a:endParaRPr lang="it-IT" sz="1300" dirty="0"/>
              </a:p>
            </p:txBody>
          </p:sp>
        </mc:Choice>
        <mc:Fallback xmlns="">
          <p:sp>
            <p:nvSpPr>
              <p:cNvPr id="33" name="CasellaDiTesto 32">
                <a:extLst>
                  <a:ext uri="{FF2B5EF4-FFF2-40B4-BE49-F238E27FC236}">
                    <a16:creationId xmlns:a16="http://schemas.microsoft.com/office/drawing/2014/main" id="{65A50421-3C5B-8AE0-728A-2E3E9680A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355" y="3787933"/>
                <a:ext cx="2020938" cy="413255"/>
              </a:xfrm>
              <a:prstGeom prst="rect">
                <a:avLst/>
              </a:prstGeom>
              <a:blipFill>
                <a:blip r:embed="rId13"/>
                <a:stretch>
                  <a:fillRect l="-1205" r="-2410" b="-102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9589411C-86EF-52C9-09E4-5ABE7CF8D3F2}"/>
                  </a:ext>
                </a:extLst>
              </p:cNvPr>
              <p:cNvSpPr txBox="1"/>
              <p:nvPr/>
            </p:nvSpPr>
            <p:spPr>
              <a:xfrm>
                <a:off x="5122516" y="5115144"/>
                <a:ext cx="1634230" cy="2000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𝐶𝑋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d>
                        <m:dPr>
                          <m:begChr m:val="|"/>
                          <m:endChr m:val="⟩"/>
                          <m:ctrlPr>
                            <a:rPr lang="it-IT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3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⊕</m:t>
                      </m:r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it-IT" sz="13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it-IT" sz="1300" dirty="0"/>
              </a:p>
            </p:txBody>
          </p:sp>
        </mc:Choice>
        <mc:Fallback xmlns="">
          <p:sp>
            <p:nvSpPr>
              <p:cNvPr id="34" name="CasellaDiTesto 33">
                <a:extLst>
                  <a:ext uri="{FF2B5EF4-FFF2-40B4-BE49-F238E27FC236}">
                    <a16:creationId xmlns:a16="http://schemas.microsoft.com/office/drawing/2014/main" id="{9589411C-86EF-52C9-09E4-5ABE7CF8D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516" y="5115144"/>
                <a:ext cx="1634230" cy="200055"/>
              </a:xfrm>
              <a:prstGeom prst="rect">
                <a:avLst/>
              </a:prstGeom>
              <a:blipFill>
                <a:blip r:embed="rId14"/>
                <a:stretch>
                  <a:fillRect l="-1866" t="-3030" r="-3358" b="-333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22AA34F6-E4E4-ABE6-4F90-E2EAA790EF03}"/>
              </a:ext>
            </a:extLst>
          </p:cNvPr>
          <p:cNvSpPr/>
          <p:nvPr/>
        </p:nvSpPr>
        <p:spPr>
          <a:xfrm>
            <a:off x="2197100" y="1363352"/>
            <a:ext cx="3425934" cy="4708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Quantum Gate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E6849249-D73F-ECFB-56E7-46D206CFCB40}"/>
              </a:ext>
            </a:extLst>
          </p:cNvPr>
          <p:cNvSpPr/>
          <p:nvPr/>
        </p:nvSpPr>
        <p:spPr>
          <a:xfrm>
            <a:off x="8414200" y="4402011"/>
            <a:ext cx="2963917" cy="4708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Circuiti Quantistici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68D4063-4897-12A6-F631-B603DE0C053F}"/>
              </a:ext>
            </a:extLst>
          </p:cNvPr>
          <p:cNvSpPr/>
          <p:nvPr/>
        </p:nvSpPr>
        <p:spPr>
          <a:xfrm>
            <a:off x="8414200" y="1363003"/>
            <a:ext cx="2963917" cy="4708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Modelli di rumore</a:t>
            </a:r>
          </a:p>
        </p:txBody>
      </p:sp>
      <p:sp>
        <p:nvSpPr>
          <p:cNvPr id="40" name="Freccia a destra 39">
            <a:extLst>
              <a:ext uri="{FF2B5EF4-FFF2-40B4-BE49-F238E27FC236}">
                <a16:creationId xmlns:a16="http://schemas.microsoft.com/office/drawing/2014/main" id="{A5A8FF2A-FDBC-1047-3C2A-784F3F9FB3A6}"/>
              </a:ext>
            </a:extLst>
          </p:cNvPr>
          <p:cNvSpPr/>
          <p:nvPr/>
        </p:nvSpPr>
        <p:spPr>
          <a:xfrm>
            <a:off x="7773143" y="2155986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Freccia a destra 40">
            <a:extLst>
              <a:ext uri="{FF2B5EF4-FFF2-40B4-BE49-F238E27FC236}">
                <a16:creationId xmlns:a16="http://schemas.microsoft.com/office/drawing/2014/main" id="{75AA771E-3A37-8BFD-F166-390EAFD76FFC}"/>
              </a:ext>
            </a:extLst>
          </p:cNvPr>
          <p:cNvSpPr/>
          <p:nvPr/>
        </p:nvSpPr>
        <p:spPr>
          <a:xfrm>
            <a:off x="7773143" y="3041043"/>
            <a:ext cx="390319" cy="2050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32892148-B9F7-6EC1-CF2D-EF198CBCEEDB}"/>
              </a:ext>
            </a:extLst>
          </p:cNvPr>
          <p:cNvSpPr txBox="1"/>
          <p:nvPr/>
        </p:nvSpPr>
        <p:spPr>
          <a:xfrm>
            <a:off x="8495568" y="2131579"/>
            <a:ext cx="22090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i="1" dirty="0"/>
              <a:t>Bit-flip </a:t>
            </a:r>
            <a:r>
              <a:rPr lang="it-IT" sz="1400" i="1" dirty="0" err="1"/>
              <a:t>Noise</a:t>
            </a: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i="1" dirty="0" err="1"/>
              <a:t>Phase</a:t>
            </a:r>
            <a:r>
              <a:rPr lang="it-IT" sz="1400" i="1" dirty="0"/>
              <a:t>-flip </a:t>
            </a:r>
            <a:r>
              <a:rPr lang="it-IT" sz="1400" i="1" dirty="0" err="1"/>
              <a:t>Noise</a:t>
            </a: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i="1" dirty="0" err="1"/>
              <a:t>Depolarizing</a:t>
            </a:r>
            <a:r>
              <a:rPr lang="it-IT" sz="1400" i="1" dirty="0"/>
              <a:t> </a:t>
            </a:r>
            <a:r>
              <a:rPr lang="it-IT" sz="1400" i="1" dirty="0" err="1"/>
              <a:t>Noise</a:t>
            </a:r>
            <a:endParaRPr lang="it-IT" sz="1400" i="1" dirty="0"/>
          </a:p>
        </p:txBody>
      </p:sp>
      <p:pic>
        <p:nvPicPr>
          <p:cNvPr id="44" name="Immagine 43" descr="Immagine che contiene Policromia, quadrato, giallo&#10;&#10;Il contenuto generato dall'IA potrebbe non essere corretto.">
            <a:extLst>
              <a:ext uri="{FF2B5EF4-FFF2-40B4-BE49-F238E27FC236}">
                <a16:creationId xmlns:a16="http://schemas.microsoft.com/office/drawing/2014/main" id="{B2E2B1CD-F34C-B316-98F6-07185C4FB4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53" r="34338"/>
          <a:stretch>
            <a:fillRect/>
          </a:stretch>
        </p:blipFill>
        <p:spPr>
          <a:xfrm>
            <a:off x="10661169" y="2073923"/>
            <a:ext cx="580203" cy="475488"/>
          </a:xfrm>
          <a:prstGeom prst="rect">
            <a:avLst/>
          </a:prstGeom>
        </p:spPr>
      </p:pic>
      <p:pic>
        <p:nvPicPr>
          <p:cNvPr id="45" name="Immagine 44" descr="Immagine che contiene Policromia, quadrato, giallo&#10;&#10;Il contenuto generato dall'IA potrebbe non essere corretto.">
            <a:extLst>
              <a:ext uri="{FF2B5EF4-FFF2-40B4-BE49-F238E27FC236}">
                <a16:creationId xmlns:a16="http://schemas.microsoft.com/office/drawing/2014/main" id="{16877069-DE8E-0A2A-02F1-71DA5EF945F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791"/>
          <a:stretch>
            <a:fillRect/>
          </a:stretch>
        </p:blipFill>
        <p:spPr>
          <a:xfrm>
            <a:off x="10679441" y="2932480"/>
            <a:ext cx="580203" cy="475488"/>
          </a:xfrm>
          <a:prstGeom prst="rect">
            <a:avLst/>
          </a:prstGeom>
        </p:spPr>
      </p:pic>
      <p:pic>
        <p:nvPicPr>
          <p:cNvPr id="46" name="Immagine 45" descr="Immagine che contiene Policromia, quadrato, giallo&#10;&#10;Il contenuto generato dall'IA potrebbe non essere corretto.">
            <a:extLst>
              <a:ext uri="{FF2B5EF4-FFF2-40B4-BE49-F238E27FC236}">
                <a16:creationId xmlns:a16="http://schemas.microsoft.com/office/drawing/2014/main" id="{9A0FD102-5C8C-7F9A-A5BC-9A9F769FF91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91"/>
          <a:stretch>
            <a:fillRect/>
          </a:stretch>
        </p:blipFill>
        <p:spPr>
          <a:xfrm>
            <a:off x="10670724" y="3770686"/>
            <a:ext cx="580204" cy="475488"/>
          </a:xfrm>
          <a:prstGeom prst="rect">
            <a:avLst/>
          </a:prstGeom>
        </p:spPr>
      </p:pic>
      <p:sp>
        <p:nvSpPr>
          <p:cNvPr id="47" name="Rettangolo 46">
            <a:extLst>
              <a:ext uri="{FF2B5EF4-FFF2-40B4-BE49-F238E27FC236}">
                <a16:creationId xmlns:a16="http://schemas.microsoft.com/office/drawing/2014/main" id="{13A83A02-1623-2512-C9B9-884E755502CE}"/>
              </a:ext>
            </a:extLst>
          </p:cNvPr>
          <p:cNvSpPr/>
          <p:nvPr/>
        </p:nvSpPr>
        <p:spPr>
          <a:xfrm>
            <a:off x="8763000" y="2104340"/>
            <a:ext cx="1465846" cy="1253292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FCAD9FE5-42B7-EDE5-58B8-305950F7E06E}"/>
              </a:ext>
            </a:extLst>
          </p:cNvPr>
          <p:cNvCxnSpPr>
            <a:cxnSpLocks/>
            <a:stCxn id="47" idx="2"/>
          </p:cNvCxnSpPr>
          <p:nvPr/>
        </p:nvCxnSpPr>
        <p:spPr>
          <a:xfrm>
            <a:off x="9495923" y="3357632"/>
            <a:ext cx="0" cy="47548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93B7CDD4-AC6E-0174-3FD5-49CE1956AF4B}"/>
                  </a:ext>
                </a:extLst>
              </p:cNvPr>
              <p:cNvSpPr txBox="1"/>
              <p:nvPr/>
            </p:nvSpPr>
            <p:spPr>
              <a:xfrm>
                <a:off x="8067228" y="5956033"/>
                <a:ext cx="3794760" cy="387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300" i="1" dirty="0"/>
                  <a:t>Stato di Bell  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⟩"/>
                        <m:ctrlPr>
                          <a:rPr lang="it-IT" sz="13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13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1300" b="0" i="1" smtClean="0">
                                <a:latin typeface="Cambria Math" panose="02040503050406030204" pitchFamily="18" charset="0"/>
                              </a:rPr>
                              <m:t>𝛷</m:t>
                            </m:r>
                          </m:e>
                          <m:sup>
                            <m:r>
                              <a:rPr lang="it-IT" sz="13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  <m:r>
                      <a:rPr lang="it-IT" sz="13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13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1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it-IT" sz="13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it-IT" sz="13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it-IT" sz="1300" b="0" i="1" smtClean="0">
                        <a:latin typeface="Cambria Math" panose="02040503050406030204" pitchFamily="18" charset="0"/>
                      </a:rPr>
                      <m:t>(|00⟩+|11⟩)</m:t>
                    </m:r>
                  </m:oMath>
                </a14:m>
                <a:endParaRPr lang="it-IT" sz="1300" i="1" dirty="0"/>
              </a:p>
            </p:txBody>
          </p:sp>
        </mc:Choice>
        <mc:Fallback xmlns=""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93B7CDD4-AC6E-0174-3FD5-49CE1956A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28" y="5956033"/>
                <a:ext cx="3794760" cy="38709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Segnaposto data 6">
            <a:extLst>
              <a:ext uri="{FF2B5EF4-FFF2-40B4-BE49-F238E27FC236}">
                <a16:creationId xmlns:a16="http://schemas.microsoft.com/office/drawing/2014/main" id="{9C3C81F7-4086-A141-280B-D60B37E5C2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41770"/>
            <a:ext cx="1003300" cy="253277"/>
          </a:xfrm>
        </p:spPr>
        <p:txBody>
          <a:bodyPr/>
          <a:lstStyle/>
          <a:p>
            <a:r>
              <a:rPr lang="it-IT" dirty="0"/>
              <a:t>27/11/2025</a:t>
            </a:r>
          </a:p>
        </p:txBody>
      </p:sp>
      <p:sp>
        <p:nvSpPr>
          <p:cNvPr id="58" name="Segnaposto piè di pagina 7">
            <a:extLst>
              <a:ext uri="{FF2B5EF4-FFF2-40B4-BE49-F238E27FC236}">
                <a16:creationId xmlns:a16="http://schemas.microsoft.com/office/drawing/2014/main" id="{7E2B01DC-0963-4FD3-685D-0186F27F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97100" y="6541770"/>
            <a:ext cx="7907020" cy="253277"/>
          </a:xfrm>
        </p:spPr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</p:spTree>
    <p:extLst>
      <p:ext uri="{BB962C8B-B14F-4D97-AF65-F5344CB8AC3E}">
        <p14:creationId xmlns:p14="http://schemas.microsoft.com/office/powerpoint/2010/main" val="3562154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BC0F62-441B-14B7-47D5-40C47BCE6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i="1" dirty="0" err="1"/>
              <a:t>Stabilizer</a:t>
            </a:r>
            <a:r>
              <a:rPr lang="it-IT" i="1" dirty="0"/>
              <a:t> </a:t>
            </a:r>
            <a:r>
              <a:rPr lang="it-IT" i="1" dirty="0" err="1"/>
              <a:t>states</a:t>
            </a:r>
            <a:endParaRPr lang="it-IT" i="1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4DAE5E7-76E0-7DB7-59FF-95F9ACEF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EAD6A3-67A2-8DED-B419-2B1ED27C3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7DEC5CC-091C-C308-3548-6359E428A2C1}"/>
                  </a:ext>
                </a:extLst>
              </p:cNvPr>
              <p:cNvSpPr txBox="1"/>
              <p:nvPr/>
            </p:nvSpPr>
            <p:spPr>
              <a:xfrm>
                <a:off x="1417320" y="1351280"/>
                <a:ext cx="1002284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/>
                  <a:t>Dati </a:t>
                </a:r>
                <a:r>
                  <a:rPr lang="it-IT" sz="1600" i="1" dirty="0"/>
                  <a:t>n </a:t>
                </a:r>
                <a:r>
                  <a:rPr lang="it-IT" sz="1600" dirty="0" err="1"/>
                  <a:t>qubit</a:t>
                </a:r>
                <a:r>
                  <a:rPr lang="it-IT" sz="1600" dirty="0"/>
                  <a:t> fisici e </a:t>
                </a:r>
                <a:r>
                  <a:rPr lang="it-IT" sz="1600" i="1" dirty="0"/>
                  <a:t>k</a:t>
                </a:r>
                <a:r>
                  <a:rPr lang="it-IT" sz="1600" dirty="0"/>
                  <a:t> </a:t>
                </a:r>
                <a:r>
                  <a:rPr lang="it-IT" sz="1600" dirty="0" err="1"/>
                  <a:t>qubit</a:t>
                </a:r>
                <a:r>
                  <a:rPr lang="it-IT" sz="1600" dirty="0"/>
                  <a:t> logici:</a:t>
                </a:r>
              </a:p>
              <a:p>
                <a:endParaRPr lang="it-IT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b="1" i="1" dirty="0" err="1"/>
                  <a:t>Stabilizer</a:t>
                </a:r>
                <a:r>
                  <a:rPr lang="it-IT" sz="1600" b="1" i="1" dirty="0"/>
                  <a:t> Group </a:t>
                </a:r>
                <a14:m>
                  <m:oMath xmlns:m="http://schemas.openxmlformats.org/officeDocument/2006/math"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it-IT" sz="1600" b="1" dirty="0"/>
                  <a:t>:</a:t>
                </a:r>
                <a:r>
                  <a:rPr lang="it-IT" sz="1600" dirty="0"/>
                  <a:t> sottogruppo abeliano del gruppo di Pauli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600" i="1" dirty="0"/>
                  <a:t>, </a:t>
                </a:r>
                <a:r>
                  <a:rPr lang="it-IT" sz="1600" dirty="0"/>
                  <a:t>generato da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it-IT" sz="1600" dirty="0"/>
                  <a:t> operatori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1600" i="1" dirty="0"/>
                  <a:t> </a:t>
                </a:r>
                <a:r>
                  <a:rPr lang="it-IT" sz="1600" dirty="0"/>
                  <a:t>indipendenti</a:t>
                </a:r>
                <a:endParaRPr lang="it-IT" sz="1600" i="1" dirty="0"/>
              </a:p>
              <a:p>
                <a:endParaRPr lang="it-IT" sz="16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=⟨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it-IT" sz="16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6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b="1" i="1" dirty="0" err="1"/>
                  <a:t>Stabilizer</a:t>
                </a:r>
                <a:r>
                  <a:rPr lang="it-IT" sz="1600" b="1" i="1" dirty="0"/>
                  <a:t> State </a:t>
                </a:r>
                <a14:m>
                  <m:oMath xmlns:m="http://schemas.openxmlformats.org/officeDocument/2006/math"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𝝍</m:t>
                    </m:r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it-IT" sz="1600" b="1" i="1" dirty="0"/>
                  <a:t>: </a:t>
                </a:r>
                <a:r>
                  <a:rPr lang="it-IT" sz="1600" dirty="0"/>
                  <a:t>unico autostato di tutti i generatori con autovalore +1</a:t>
                </a:r>
                <a:r>
                  <a:rPr lang="it-IT" sz="1600" b="1" i="1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600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|"/>
                          <m:endChr m:val="⟩"/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=+1⋅|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⟩</m:t>
                      </m:r>
                    </m:oMath>
                  </m:oMathPara>
                </a14:m>
                <a:endParaRPr lang="it-IT" sz="1600" i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600" i="1" dirty="0"/>
              </a:p>
              <a:p>
                <a:r>
                  <a:rPr lang="it-IT" sz="1600" dirty="0"/>
                  <a:t>In </a:t>
                </a:r>
                <a:r>
                  <a:rPr lang="it-IT" sz="1600" b="1" dirty="0"/>
                  <a:t>Quantum </a:t>
                </a:r>
                <a:r>
                  <a:rPr lang="it-IT" sz="1600" b="1" dirty="0" err="1"/>
                  <a:t>Error</a:t>
                </a:r>
                <a:r>
                  <a:rPr lang="it-IT" sz="1600" b="1" dirty="0"/>
                  <a:t> </a:t>
                </a:r>
                <a:r>
                  <a:rPr lang="it-IT" sz="1600" b="1" dirty="0" err="1"/>
                  <a:t>Correction</a:t>
                </a:r>
                <a:r>
                  <a:rPr lang="it-IT" sz="1600" b="1" dirty="0"/>
                  <a:t>:</a:t>
                </a:r>
              </a:p>
              <a:p>
                <a:endParaRPr lang="it-IT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/>
                  <a:t>I Codici a Stabilizzatori (come Surface Code) sono definiti da un </a:t>
                </a:r>
                <a:r>
                  <a:rPr lang="it-IT" sz="1600" i="1" dirty="0" err="1"/>
                  <a:t>Stabilizer</a:t>
                </a:r>
                <a:r>
                  <a:rPr lang="it-IT" sz="1600" i="1" dirty="0"/>
                  <a:t> Group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/>
                  <a:t>Lo stato logico del codice è definito da </a:t>
                </a:r>
                <a:r>
                  <a:rPr lang="it-IT" sz="1600" i="1" dirty="0" err="1"/>
                  <a:t>Stabilizer</a:t>
                </a:r>
                <a:r>
                  <a:rPr lang="it-IT" sz="1600" i="1" dirty="0"/>
                  <a:t> States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/>
                  <a:t>La sindrome si basa sulla misurazione dell’autovalore degli stabilizzatori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600" dirty="0"/>
              </a:p>
              <a:p>
                <a:r>
                  <a:rPr lang="it-IT" sz="1600" dirty="0"/>
                  <a:t>Lo stato di un Codice a Stabilizzatori può essere descritto in modo compatto a partire da </a:t>
                </a:r>
                <a14:m>
                  <m:oMath xmlns:m="http://schemas.openxmlformats.org/officeDocument/2006/math"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sz="1600" dirty="0"/>
                  <a:t> operatori (invece che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it-IT" sz="1600" dirty="0"/>
                  <a:t>elementi), pertanto può essere simulato efficientemente su un computer classico (</a:t>
                </a:r>
                <a:r>
                  <a:rPr lang="it-IT" sz="1600" i="1" dirty="0"/>
                  <a:t>Teorema di </a:t>
                </a:r>
                <a:r>
                  <a:rPr lang="it-IT" sz="1600" i="1" dirty="0" err="1"/>
                  <a:t>Gottesman-Knill</a:t>
                </a:r>
                <a:r>
                  <a:rPr lang="it-IT" sz="1600" dirty="0"/>
                  <a:t>)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67DEC5CC-091C-C308-3548-6359E428A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320" y="1351280"/>
                <a:ext cx="10022840" cy="4524315"/>
              </a:xfrm>
              <a:prstGeom prst="rect">
                <a:avLst/>
              </a:prstGeom>
              <a:blipFill>
                <a:blip r:embed="rId2"/>
                <a:stretch>
                  <a:fillRect l="-365" t="-404" b="-8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ccia a destra 11">
            <a:extLst>
              <a:ext uri="{FF2B5EF4-FFF2-40B4-BE49-F238E27FC236}">
                <a16:creationId xmlns:a16="http://schemas.microsoft.com/office/drawing/2014/main" id="{8CD1CD3A-BF1A-A6DE-0BCA-755A8200AB39}"/>
              </a:ext>
            </a:extLst>
          </p:cNvPr>
          <p:cNvSpPr/>
          <p:nvPr/>
        </p:nvSpPr>
        <p:spPr>
          <a:xfrm>
            <a:off x="1055370" y="5335701"/>
            <a:ext cx="284480" cy="1756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0613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59F0-E696-BDA4-E4DC-9852C185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ED9D04-B534-9DBD-7247-507323C7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Misura indiretta degli stabilizzatori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B10155E9-7409-7A07-ABC3-FDD32565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D6211B4-CF77-BFC6-8687-400C21CA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C32D5B2B-9DA4-8865-C550-8D5A47235D0A}"/>
              </a:ext>
            </a:extLst>
          </p:cNvPr>
          <p:cNvSpPr/>
          <p:nvPr/>
        </p:nvSpPr>
        <p:spPr>
          <a:xfrm>
            <a:off x="1580721" y="1715807"/>
            <a:ext cx="3237925" cy="4708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i="1" dirty="0">
                <a:solidFill>
                  <a:schemeClr val="tx1"/>
                </a:solidFill>
              </a:rPr>
              <a:t>«Quantum»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i="1" dirty="0" err="1">
                <a:solidFill>
                  <a:schemeClr val="tx1"/>
                </a:solidFill>
              </a:rPr>
              <a:t>repetition</a:t>
            </a:r>
            <a:r>
              <a:rPr lang="it-IT" i="1" dirty="0">
                <a:solidFill>
                  <a:schemeClr val="tx1"/>
                </a:solidFill>
              </a:rPr>
              <a:t> code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6511321-7827-7D01-00EA-7E7BAD50150D}"/>
                  </a:ext>
                </a:extLst>
              </p:cNvPr>
              <p:cNvSpPr txBox="1"/>
              <p:nvPr/>
            </p:nvSpPr>
            <p:spPr>
              <a:xfrm>
                <a:off x="1350662" y="3001905"/>
                <a:ext cx="353487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⟩"/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|"/>
                              <m:endChr m:val="⟩"/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|"/>
                          <m:endChr m:val="⟩"/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000</m:t>
                          </m:r>
                        </m:e>
                      </m:d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|111⟩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6511321-7827-7D01-00EA-7E7BAD501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662" y="3001905"/>
                <a:ext cx="3534877" cy="246221"/>
              </a:xfrm>
              <a:prstGeom prst="rect">
                <a:avLst/>
              </a:prstGeom>
              <a:blipFill>
                <a:blip r:embed="rId2"/>
                <a:stretch>
                  <a:fillRect r="-1554" b="-317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9E5C888-A09F-43E2-AE4B-F9C9A51D3A85}"/>
                  </a:ext>
                </a:extLst>
              </p:cNvPr>
              <p:cNvSpPr txBox="1"/>
              <p:nvPr/>
            </p:nvSpPr>
            <p:spPr>
              <a:xfrm>
                <a:off x="2585679" y="3845563"/>
                <a:ext cx="106484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it-IT" sz="1600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9E5C888-A09F-43E2-AE4B-F9C9A51D3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679" y="3845563"/>
                <a:ext cx="1064842" cy="246221"/>
              </a:xfrm>
              <a:prstGeom prst="rect">
                <a:avLst/>
              </a:prstGeom>
              <a:blipFill>
                <a:blip r:embed="rId3"/>
                <a:stretch>
                  <a:fillRect l="-3429" r="-1143" b="-15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34DE64FE-8E25-DD88-6201-E1387F298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657" y="4510353"/>
            <a:ext cx="3856054" cy="1425063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1F3ED36-3510-3C49-D1DF-41DB4E7964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806" y="2957696"/>
            <a:ext cx="2339543" cy="1600339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0ECA03F-DDE6-5115-D904-A43F5F3CDA50}"/>
              </a:ext>
            </a:extLst>
          </p:cNvPr>
          <p:cNvSpPr txBox="1"/>
          <p:nvPr/>
        </p:nvSpPr>
        <p:spPr>
          <a:xfrm>
            <a:off x="1968852" y="2663113"/>
            <a:ext cx="233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/>
              <a:t>Stato logico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A7D5957-E43E-FBD9-1DB4-0AB2BBC6C3FE}"/>
              </a:ext>
            </a:extLst>
          </p:cNvPr>
          <p:cNvSpPr txBox="1"/>
          <p:nvPr/>
        </p:nvSpPr>
        <p:spPr>
          <a:xfrm>
            <a:off x="1949701" y="3515324"/>
            <a:ext cx="233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/>
              <a:t>Stabilizzatori (Bit-flip)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5B43363C-D560-4E57-0557-749F181CD1B4}"/>
              </a:ext>
            </a:extLst>
          </p:cNvPr>
          <p:cNvSpPr txBox="1"/>
          <p:nvPr/>
        </p:nvSpPr>
        <p:spPr>
          <a:xfrm>
            <a:off x="2031284" y="4252665"/>
            <a:ext cx="233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/>
              <a:t>Sindrome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ttangolo con angoli arrotondati 16">
                <a:extLst>
                  <a:ext uri="{FF2B5EF4-FFF2-40B4-BE49-F238E27FC236}">
                    <a16:creationId xmlns:a16="http://schemas.microsoft.com/office/drawing/2014/main" id="{EA6A3ADC-43E4-768F-DC2A-21499E52A480}"/>
                  </a:ext>
                </a:extLst>
              </p:cNvPr>
              <p:cNvSpPr/>
              <p:nvPr/>
            </p:nvSpPr>
            <p:spPr>
              <a:xfrm>
                <a:off x="7355917" y="1715807"/>
                <a:ext cx="3325320" cy="470863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i="1" dirty="0">
                    <a:solidFill>
                      <a:schemeClr val="tx1"/>
                    </a:solidFill>
                  </a:rPr>
                  <a:t>Misura indiretta di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it-IT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ettangolo con angoli arrotondati 16">
                <a:extLst>
                  <a:ext uri="{FF2B5EF4-FFF2-40B4-BE49-F238E27FC236}">
                    <a16:creationId xmlns:a16="http://schemas.microsoft.com/office/drawing/2014/main" id="{EA6A3ADC-43E4-768F-DC2A-21499E52A4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917" y="1715807"/>
                <a:ext cx="3325320" cy="470863"/>
              </a:xfrm>
              <a:prstGeom prst="roundRect">
                <a:avLst/>
              </a:prstGeom>
              <a:blipFill>
                <a:blip r:embed="rId6"/>
                <a:stretch>
                  <a:fillRect b="-61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E9B4B861-5D0D-1138-6A87-7098E5FF3FD3}"/>
                  </a:ext>
                </a:extLst>
              </p:cNvPr>
              <p:cNvSpPr txBox="1"/>
              <p:nvPr/>
            </p:nvSpPr>
            <p:spPr>
              <a:xfrm>
                <a:off x="7234820" y="4859946"/>
                <a:ext cx="356751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1400" dirty="0"/>
                  <a:t>L'informazione sull'errore (la parità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it-IT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it-IT" sz="1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sz="1400" dirty="0"/>
                  <a:t>) viene trasferita al </a:t>
                </a:r>
                <a:r>
                  <a:rPr lang="it-IT" sz="1400" dirty="0" err="1"/>
                  <a:t>qubit</a:t>
                </a:r>
                <a:r>
                  <a:rPr lang="it-IT" sz="1400" dirty="0"/>
                  <a:t> ancilla tramite operatori </a:t>
                </a:r>
                <a:r>
                  <a:rPr lang="it-IT" sz="1400" i="1" dirty="0"/>
                  <a:t>CX</a:t>
                </a:r>
                <a:r>
                  <a:rPr lang="it-IT" sz="1400" dirty="0"/>
                  <a:t>, la cui successiva misura ne rivela l'esito senza collassare lo stato logico.</a:t>
                </a: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E9B4B861-5D0D-1138-6A87-7098E5FF3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4820" y="4859946"/>
                <a:ext cx="3567513" cy="954107"/>
              </a:xfrm>
              <a:prstGeom prst="rect">
                <a:avLst/>
              </a:prstGeom>
              <a:blipFill>
                <a:blip r:embed="rId7"/>
                <a:stretch>
                  <a:fillRect t="-1274" r="-1026" b="-573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E4AD7776-752E-1A44-E2EE-2D1E36645C4E}"/>
              </a:ext>
            </a:extLst>
          </p:cNvPr>
          <p:cNvSpPr/>
          <p:nvPr/>
        </p:nvSpPr>
        <p:spPr>
          <a:xfrm>
            <a:off x="5843480" y="3351142"/>
            <a:ext cx="505040" cy="4350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9771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BE2AE-13FB-B8CE-95C5-2AB0F5F8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790A52-CFF6-A231-A9B7-9AF1DF69C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/>
              <a:t>Processo di misura sequenziale e </a:t>
            </a:r>
            <a:r>
              <a:rPr lang="it-IT" sz="3200" i="1" dirty="0" err="1"/>
              <a:t>Faulty</a:t>
            </a:r>
            <a:r>
              <a:rPr lang="it-IT" sz="3200" i="1" dirty="0"/>
              <a:t> </a:t>
            </a:r>
            <a:r>
              <a:rPr lang="it-IT" sz="3200" i="1" dirty="0" err="1"/>
              <a:t>Syndrome</a:t>
            </a:r>
            <a:r>
              <a:rPr lang="it-IT" sz="3200" i="1" dirty="0"/>
              <a:t> Volume</a:t>
            </a:r>
            <a:endParaRPr lang="it-IT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EBEC368-21BB-50E1-1C67-46F7C64EB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dirty="0"/>
              <a:t>27/11/2025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B75225A1-8615-91AF-00D2-427442FD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pic>
        <p:nvPicPr>
          <p:cNvPr id="10" name="Immagine 9" descr="Immagine che contiene testo, schermata, diagramma, design&#10;&#10;Il contenuto generato dall'IA potrebbe non essere corretto.">
            <a:extLst>
              <a:ext uri="{FF2B5EF4-FFF2-40B4-BE49-F238E27FC236}">
                <a16:creationId xmlns:a16="http://schemas.microsoft.com/office/drawing/2014/main" id="{49E755EE-7090-0F32-2072-AE739C6CE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" y="1982017"/>
            <a:ext cx="4892785" cy="340418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D30BD97-25BD-E4E9-16A3-A56D3687D5F4}"/>
              </a:ext>
            </a:extLst>
          </p:cNvPr>
          <p:cNvSpPr txBox="1"/>
          <p:nvPr/>
        </p:nvSpPr>
        <p:spPr>
          <a:xfrm>
            <a:off x="2201313" y="1333826"/>
            <a:ext cx="2279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i="1" dirty="0"/>
              <a:t>Istanti di tempo discreti</a:t>
            </a:r>
          </a:p>
        </p:txBody>
      </p:sp>
      <p:sp>
        <p:nvSpPr>
          <p:cNvPr id="69" name="Rettangolo 68">
            <a:extLst>
              <a:ext uri="{FF2B5EF4-FFF2-40B4-BE49-F238E27FC236}">
                <a16:creationId xmlns:a16="http://schemas.microsoft.com/office/drawing/2014/main" id="{B778BF86-FEAB-5A15-DCB4-9A9F0BD82817}"/>
              </a:ext>
            </a:extLst>
          </p:cNvPr>
          <p:cNvSpPr/>
          <p:nvPr/>
        </p:nvSpPr>
        <p:spPr>
          <a:xfrm>
            <a:off x="2082800" y="4369751"/>
            <a:ext cx="2401824" cy="1131889"/>
          </a:xfrm>
          <a:prstGeom prst="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3" name="Connettore a gomito 72">
            <a:extLst>
              <a:ext uri="{FF2B5EF4-FFF2-40B4-BE49-F238E27FC236}">
                <a16:creationId xmlns:a16="http://schemas.microsoft.com/office/drawing/2014/main" id="{3FD86015-6243-7C79-6CE4-2DCFCF360103}"/>
              </a:ext>
            </a:extLst>
          </p:cNvPr>
          <p:cNvCxnSpPr>
            <a:cxnSpLocks/>
            <a:stCxn id="69" idx="1"/>
          </p:cNvCxnSpPr>
          <p:nvPr/>
        </p:nvCxnSpPr>
        <p:spPr>
          <a:xfrm rot="10800000" flipH="1" flipV="1">
            <a:off x="2082800" y="4935696"/>
            <a:ext cx="1420368" cy="1026192"/>
          </a:xfrm>
          <a:prstGeom prst="bentConnector3">
            <a:avLst>
              <a:gd name="adj1" fmla="val -16094"/>
            </a:avLst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E70F397B-B702-003C-2795-F6FA0D84D296}"/>
              </a:ext>
            </a:extLst>
          </p:cNvPr>
          <p:cNvSpPr txBox="1"/>
          <p:nvPr/>
        </p:nvSpPr>
        <p:spPr>
          <a:xfrm>
            <a:off x="3589348" y="5777371"/>
            <a:ext cx="33040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i="1" dirty="0"/>
              <a:t>Volume di Sindrome</a:t>
            </a:r>
          </a:p>
        </p:txBody>
      </p:sp>
      <p:sp>
        <p:nvSpPr>
          <p:cNvPr id="88" name="Figura a mano libera: forma 87">
            <a:extLst>
              <a:ext uri="{FF2B5EF4-FFF2-40B4-BE49-F238E27FC236}">
                <a16:creationId xmlns:a16="http://schemas.microsoft.com/office/drawing/2014/main" id="{0087FD4B-73FA-5ABE-2914-75E8935F7D47}"/>
              </a:ext>
            </a:extLst>
          </p:cNvPr>
          <p:cNvSpPr/>
          <p:nvPr/>
        </p:nvSpPr>
        <p:spPr>
          <a:xfrm>
            <a:off x="2656840" y="1668780"/>
            <a:ext cx="619760" cy="281940"/>
          </a:xfrm>
          <a:custGeom>
            <a:avLst/>
            <a:gdLst>
              <a:gd name="connsiteX0" fmla="*/ 617220 w 619760"/>
              <a:gd name="connsiteY0" fmla="*/ 0 h 281940"/>
              <a:gd name="connsiteX1" fmla="*/ 619760 w 619760"/>
              <a:gd name="connsiteY1" fmla="*/ 137160 h 281940"/>
              <a:gd name="connsiteX2" fmla="*/ 0 w 619760"/>
              <a:gd name="connsiteY2" fmla="*/ 137160 h 281940"/>
              <a:gd name="connsiteX3" fmla="*/ 2540 w 619760"/>
              <a:gd name="connsiteY3" fmla="*/ 281940 h 281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760" h="281940">
                <a:moveTo>
                  <a:pt x="617220" y="0"/>
                </a:moveTo>
                <a:cubicBezTo>
                  <a:pt x="618067" y="45720"/>
                  <a:pt x="618913" y="91440"/>
                  <a:pt x="619760" y="137160"/>
                </a:cubicBezTo>
                <a:lnTo>
                  <a:pt x="0" y="137160"/>
                </a:lnTo>
                <a:cubicBezTo>
                  <a:pt x="847" y="185420"/>
                  <a:pt x="1693" y="233680"/>
                  <a:pt x="2540" y="281940"/>
                </a:cubicBezTo>
              </a:path>
            </a:pathLst>
          </a:custGeom>
          <a:ln w="190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Figura a mano libera: forma 88">
            <a:extLst>
              <a:ext uri="{FF2B5EF4-FFF2-40B4-BE49-F238E27FC236}">
                <a16:creationId xmlns:a16="http://schemas.microsoft.com/office/drawing/2014/main" id="{CAB5A57E-749D-4956-BAD3-75D6B054359F}"/>
              </a:ext>
            </a:extLst>
          </p:cNvPr>
          <p:cNvSpPr/>
          <p:nvPr/>
        </p:nvSpPr>
        <p:spPr>
          <a:xfrm flipH="1">
            <a:off x="3341265" y="1668780"/>
            <a:ext cx="607927" cy="281940"/>
          </a:xfrm>
          <a:custGeom>
            <a:avLst/>
            <a:gdLst>
              <a:gd name="connsiteX0" fmla="*/ 617220 w 619760"/>
              <a:gd name="connsiteY0" fmla="*/ 0 h 281940"/>
              <a:gd name="connsiteX1" fmla="*/ 619760 w 619760"/>
              <a:gd name="connsiteY1" fmla="*/ 137160 h 281940"/>
              <a:gd name="connsiteX2" fmla="*/ 0 w 619760"/>
              <a:gd name="connsiteY2" fmla="*/ 137160 h 281940"/>
              <a:gd name="connsiteX3" fmla="*/ 2540 w 619760"/>
              <a:gd name="connsiteY3" fmla="*/ 281940 h 281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760" h="281940">
                <a:moveTo>
                  <a:pt x="617220" y="0"/>
                </a:moveTo>
                <a:cubicBezTo>
                  <a:pt x="618067" y="45720"/>
                  <a:pt x="618913" y="91440"/>
                  <a:pt x="619760" y="137160"/>
                </a:cubicBezTo>
                <a:lnTo>
                  <a:pt x="0" y="137160"/>
                </a:lnTo>
                <a:cubicBezTo>
                  <a:pt x="847" y="185420"/>
                  <a:pt x="1693" y="233680"/>
                  <a:pt x="2540" y="281940"/>
                </a:cubicBezTo>
              </a:path>
            </a:pathLst>
          </a:custGeom>
          <a:ln w="1905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0" name="CasellaDiTesto 89">
            <a:extLst>
              <a:ext uri="{FF2B5EF4-FFF2-40B4-BE49-F238E27FC236}">
                <a16:creationId xmlns:a16="http://schemas.microsoft.com/office/drawing/2014/main" id="{2699D47A-BD5D-C76D-58FA-F6B2C395EF0E}"/>
              </a:ext>
            </a:extLst>
          </p:cNvPr>
          <p:cNvSpPr txBox="1"/>
          <p:nvPr/>
        </p:nvSpPr>
        <p:spPr>
          <a:xfrm>
            <a:off x="6652000" y="2644170"/>
            <a:ext cx="5275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L’ambiente simula sequenzialmente la presenza di errori fisici nel codice, da cui viene estratta la </a:t>
            </a:r>
            <a:r>
              <a:rPr lang="it-IT" sz="1600" i="1" dirty="0" err="1"/>
              <a:t>true</a:t>
            </a:r>
            <a:r>
              <a:rPr lang="it-IT" sz="1600" i="1" dirty="0"/>
              <a:t> </a:t>
            </a:r>
            <a:r>
              <a:rPr lang="it-IT" sz="1600" i="1" dirty="0" err="1"/>
              <a:t>syndrome</a:t>
            </a:r>
            <a:endParaRPr lang="it-IT" sz="16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 partire da ciascuna </a:t>
            </a:r>
            <a:r>
              <a:rPr lang="it-IT" sz="1600" i="1" dirty="0" err="1"/>
              <a:t>true</a:t>
            </a:r>
            <a:r>
              <a:rPr lang="it-IT" sz="1600" i="1" dirty="0"/>
              <a:t> </a:t>
            </a:r>
            <a:r>
              <a:rPr lang="it-IT" sz="1600" i="1" dirty="0" err="1"/>
              <a:t>syndrome</a:t>
            </a:r>
            <a:r>
              <a:rPr lang="it-IT" sz="1600" dirty="0"/>
              <a:t>, vengono simulati errori nei processi di misura ottenendo </a:t>
            </a:r>
            <a:r>
              <a:rPr lang="it-IT" sz="1600" i="1" dirty="0" err="1"/>
              <a:t>faulty</a:t>
            </a:r>
            <a:r>
              <a:rPr lang="it-IT" sz="1600" i="1" dirty="0"/>
              <a:t> </a:t>
            </a:r>
            <a:r>
              <a:rPr lang="it-IT" sz="1600" i="1" dirty="0" err="1"/>
              <a:t>syndrome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L’insieme delle matrici di </a:t>
            </a:r>
            <a:r>
              <a:rPr lang="it-IT" sz="1600" i="1" dirty="0" err="1"/>
              <a:t>faulty</a:t>
            </a:r>
            <a:r>
              <a:rPr lang="it-IT" sz="1600" i="1" dirty="0"/>
              <a:t> </a:t>
            </a:r>
            <a:r>
              <a:rPr lang="it-IT" sz="1600" i="1" dirty="0" err="1"/>
              <a:t>syndrome</a:t>
            </a:r>
            <a:r>
              <a:rPr lang="it-IT" sz="1600" dirty="0"/>
              <a:t> costituisce il </a:t>
            </a:r>
            <a:r>
              <a:rPr lang="it-IT" sz="1600" b="1" dirty="0"/>
              <a:t>Volume di Sindrome</a:t>
            </a:r>
          </a:p>
        </p:txBody>
      </p:sp>
    </p:spTree>
    <p:extLst>
      <p:ext uri="{BB962C8B-B14F-4D97-AF65-F5344CB8AC3E}">
        <p14:creationId xmlns:p14="http://schemas.microsoft.com/office/powerpoint/2010/main" val="1554751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D28B-6D73-3949-3AFE-BB93C896F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6F1ACB-2963-E3BD-D2E0-2603ED8DF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Ciclo di interazione MDP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1E673E2-D010-E7FA-53C1-7ECA3F051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27/11/2025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03AEE27-A7A3-0CC1-BED7-B6BFEC062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Sviluppo di un decoder basato su Reinforcement Learning per Quantum Error Correction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390CFC3-A3ED-C6C6-B1DA-9525DE60F65F}"/>
              </a:ext>
            </a:extLst>
          </p:cNvPr>
          <p:cNvSpPr txBox="1"/>
          <p:nvPr/>
        </p:nvSpPr>
        <p:spPr>
          <a:xfrm>
            <a:off x="825766" y="1326289"/>
            <a:ext cx="104089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Gli step di interazione sono articolati su </a:t>
            </a:r>
            <a:r>
              <a:rPr lang="it-IT" sz="1600" b="1" dirty="0"/>
              <a:t>episodi</a:t>
            </a:r>
            <a:r>
              <a:rPr lang="it-IT" sz="1600" dirty="0"/>
              <a:t>, durante i quali si alternano </a:t>
            </a:r>
            <a:r>
              <a:rPr lang="it-IT" sz="1600" b="1" i="1" dirty="0"/>
              <a:t>misure</a:t>
            </a:r>
            <a:r>
              <a:rPr lang="it-IT" sz="1600" b="1" dirty="0"/>
              <a:t> della sindrome </a:t>
            </a:r>
            <a:r>
              <a:rPr lang="it-IT" sz="1600" dirty="0"/>
              <a:t>e </a:t>
            </a:r>
            <a:r>
              <a:rPr lang="it-IT" sz="1600" b="1" i="1" dirty="0"/>
              <a:t>azioni</a:t>
            </a:r>
            <a:r>
              <a:rPr lang="it-IT" sz="1600" b="1" dirty="0"/>
              <a:t> correttive</a:t>
            </a:r>
            <a:r>
              <a:rPr lang="it-IT" sz="1600" dirty="0"/>
              <a:t>, fino al raggiungimento di una condizione terminale (</a:t>
            </a:r>
            <a:r>
              <a:rPr lang="it-IT" sz="1600" b="1" i="1" dirty="0"/>
              <a:t>errore logico</a:t>
            </a:r>
            <a:r>
              <a:rPr lang="it-IT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Apprendimento non convenzionale:</a:t>
            </a:r>
            <a:r>
              <a:rPr lang="it-IT" sz="1600" dirty="0"/>
              <a:t> non è necessario ripristinare lo stato logico prima di una nuova misura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Il numero di sindromi raccolte in un episodio prima di una condizione terminale viene estratto come </a:t>
            </a:r>
            <a:r>
              <a:rPr lang="it-IT" sz="1600" b="1" i="1" dirty="0" err="1"/>
              <a:t>lifetime</a:t>
            </a:r>
            <a:r>
              <a:rPr lang="it-IT" sz="1600" dirty="0"/>
              <a:t> del sistema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AE1E9AC-C64C-1295-D1B9-3E3830B00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032" y="3164196"/>
            <a:ext cx="5360964" cy="2737899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78958276-A4A6-157B-4945-6264A2889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098" y="3226667"/>
            <a:ext cx="1413258" cy="2589291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D264889-2C60-8BED-1176-164E9CA5D516}"/>
              </a:ext>
            </a:extLst>
          </p:cNvPr>
          <p:cNvSpPr txBox="1"/>
          <p:nvPr/>
        </p:nvSpPr>
        <p:spPr>
          <a:xfrm>
            <a:off x="574388" y="3665811"/>
            <a:ext cx="1003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/>
              <a:t>Inizio </a:t>
            </a:r>
          </a:p>
          <a:p>
            <a:pPr algn="ctr"/>
            <a:r>
              <a:rPr lang="it-IT" sz="1600" i="1" dirty="0"/>
              <a:t>Episodio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B933232-5913-45BF-9D2A-F0FAE6391571}"/>
              </a:ext>
            </a:extLst>
          </p:cNvPr>
          <p:cNvSpPr txBox="1"/>
          <p:nvPr/>
        </p:nvSpPr>
        <p:spPr>
          <a:xfrm>
            <a:off x="10633103" y="3665810"/>
            <a:ext cx="1003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/>
              <a:t>Fine </a:t>
            </a:r>
          </a:p>
          <a:p>
            <a:pPr algn="ctr"/>
            <a:r>
              <a:rPr lang="it-IT" sz="1600" i="1" dirty="0"/>
              <a:t>Episodio</a:t>
            </a:r>
          </a:p>
        </p:txBody>
      </p:sp>
      <p:sp>
        <p:nvSpPr>
          <p:cNvPr id="19" name="Freccia circolare a sinistra 18">
            <a:extLst>
              <a:ext uri="{FF2B5EF4-FFF2-40B4-BE49-F238E27FC236}">
                <a16:creationId xmlns:a16="http://schemas.microsoft.com/office/drawing/2014/main" id="{382CE77C-3CE7-B233-8DD3-DE330DD5F809}"/>
              </a:ext>
            </a:extLst>
          </p:cNvPr>
          <p:cNvSpPr/>
          <p:nvPr/>
        </p:nvSpPr>
        <p:spPr>
          <a:xfrm>
            <a:off x="10935973" y="4388364"/>
            <a:ext cx="457725" cy="5847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0" name="Freccia a destra 19">
            <a:extLst>
              <a:ext uri="{FF2B5EF4-FFF2-40B4-BE49-F238E27FC236}">
                <a16:creationId xmlns:a16="http://schemas.microsoft.com/office/drawing/2014/main" id="{8636E3B5-F1B1-541C-15B6-05BB4020DC39}"/>
              </a:ext>
            </a:extLst>
          </p:cNvPr>
          <p:cNvSpPr/>
          <p:nvPr/>
        </p:nvSpPr>
        <p:spPr>
          <a:xfrm>
            <a:off x="825766" y="4388364"/>
            <a:ext cx="500545" cy="2532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F2094E99-E72B-7FDE-8EE7-2572D1D9FB3C}"/>
              </a:ext>
            </a:extLst>
          </p:cNvPr>
          <p:cNvSpPr txBox="1"/>
          <p:nvPr/>
        </p:nvSpPr>
        <p:spPr>
          <a:xfrm>
            <a:off x="1954134" y="2547364"/>
            <a:ext cx="22783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 err="1"/>
              <a:t>Timesteps</a:t>
            </a:r>
            <a:endParaRPr lang="it-IT" i="1" dirty="0"/>
          </a:p>
        </p:txBody>
      </p:sp>
      <p:grpSp>
        <p:nvGrpSpPr>
          <p:cNvPr id="68" name="Gruppo 67">
            <a:extLst>
              <a:ext uri="{FF2B5EF4-FFF2-40B4-BE49-F238E27FC236}">
                <a16:creationId xmlns:a16="http://schemas.microsoft.com/office/drawing/2014/main" id="{93A540DC-6646-5908-A540-AC7D8031E30E}"/>
              </a:ext>
            </a:extLst>
          </p:cNvPr>
          <p:cNvGrpSpPr/>
          <p:nvPr/>
        </p:nvGrpSpPr>
        <p:grpSpPr>
          <a:xfrm>
            <a:off x="2152015" y="2885917"/>
            <a:ext cx="7520712" cy="340749"/>
            <a:chOff x="1674495" y="2885917"/>
            <a:chExt cx="7520712" cy="340749"/>
          </a:xfrm>
        </p:grpSpPr>
        <p:cxnSp>
          <p:nvCxnSpPr>
            <p:cNvPr id="23" name="Connettore a gomito 22">
              <a:extLst>
                <a:ext uri="{FF2B5EF4-FFF2-40B4-BE49-F238E27FC236}">
                  <a16:creationId xmlns:a16="http://schemas.microsoft.com/office/drawing/2014/main" id="{3D6AEE06-DA6E-1F2A-FF7A-0CED81BFF2FE}"/>
                </a:ext>
              </a:extLst>
            </p:cNvPr>
            <p:cNvCxnSpPr>
              <a:cxnSpLocks/>
              <a:stCxn id="21" idx="2"/>
              <a:endCxn id="16" idx="0"/>
            </p:cNvCxnSpPr>
            <p:nvPr/>
          </p:nvCxnSpPr>
          <p:spPr>
            <a:xfrm rot="16200000" flipH="1">
              <a:off x="5735131" y="-233410"/>
              <a:ext cx="340749" cy="6579403"/>
            </a:xfrm>
            <a:prstGeom prst="bentConnector3">
              <a:avLst/>
            </a:prstGeom>
            <a:ln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igura a mano libera: forma 30">
              <a:extLst>
                <a:ext uri="{FF2B5EF4-FFF2-40B4-BE49-F238E27FC236}">
                  <a16:creationId xmlns:a16="http://schemas.microsoft.com/office/drawing/2014/main" id="{44C21619-0666-3B21-C48E-EC1E4BC2A263}"/>
                </a:ext>
              </a:extLst>
            </p:cNvPr>
            <p:cNvSpPr/>
            <p:nvPr/>
          </p:nvSpPr>
          <p:spPr>
            <a:xfrm>
              <a:off x="1674495" y="3051035"/>
              <a:ext cx="941070" cy="137160"/>
            </a:xfrm>
            <a:custGeom>
              <a:avLst/>
              <a:gdLst>
                <a:gd name="connsiteX0" fmla="*/ 941070 w 941070"/>
                <a:gd name="connsiteY0" fmla="*/ 3810 h 137160"/>
                <a:gd name="connsiteX1" fmla="*/ 0 w 941070"/>
                <a:gd name="connsiteY1" fmla="*/ 0 h 137160"/>
                <a:gd name="connsiteX2" fmla="*/ 0 w 941070"/>
                <a:gd name="connsiteY2" fmla="*/ 137160 h 13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41070" h="137160">
                  <a:moveTo>
                    <a:pt x="941070" y="3810"/>
                  </a:moveTo>
                  <a:lnTo>
                    <a:pt x="0" y="0"/>
                  </a:lnTo>
                  <a:lnTo>
                    <a:pt x="0" y="137160"/>
                  </a:lnTo>
                </a:path>
              </a:pathLst>
            </a:custGeom>
            <a:ln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2" name="Figura a mano libera: forma 31">
              <a:extLst>
                <a:ext uri="{FF2B5EF4-FFF2-40B4-BE49-F238E27FC236}">
                  <a16:creationId xmlns:a16="http://schemas.microsoft.com/office/drawing/2014/main" id="{C4BB8744-582D-3D90-BC6D-25E0BB22DEA7}"/>
                </a:ext>
              </a:extLst>
            </p:cNvPr>
            <p:cNvSpPr/>
            <p:nvPr/>
          </p:nvSpPr>
          <p:spPr>
            <a:xfrm>
              <a:off x="3057525" y="3059290"/>
              <a:ext cx="0" cy="160020"/>
            </a:xfrm>
            <a:custGeom>
              <a:avLst/>
              <a:gdLst>
                <a:gd name="connsiteX0" fmla="*/ 0 w 0"/>
                <a:gd name="connsiteY0" fmla="*/ 0 h 160020"/>
                <a:gd name="connsiteX1" fmla="*/ 0 w 0"/>
                <a:gd name="connsiteY1" fmla="*/ 160020 h 160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60020">
                  <a:moveTo>
                    <a:pt x="0" y="0"/>
                  </a:moveTo>
                  <a:lnTo>
                    <a:pt x="0" y="160020"/>
                  </a:lnTo>
                </a:path>
              </a:pathLst>
            </a:custGeom>
            <a:noFill/>
            <a:ln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3" name="Figura a mano libera: forma 32">
              <a:extLst>
                <a:ext uri="{FF2B5EF4-FFF2-40B4-BE49-F238E27FC236}">
                  <a16:creationId xmlns:a16="http://schemas.microsoft.com/office/drawing/2014/main" id="{1FDE2234-176C-ED5E-2031-EC263670E3DA}"/>
                </a:ext>
              </a:extLst>
            </p:cNvPr>
            <p:cNvSpPr/>
            <p:nvPr/>
          </p:nvSpPr>
          <p:spPr>
            <a:xfrm>
              <a:off x="4402455" y="3065005"/>
              <a:ext cx="0" cy="148590"/>
            </a:xfrm>
            <a:custGeom>
              <a:avLst/>
              <a:gdLst>
                <a:gd name="connsiteX0" fmla="*/ 0 w 0"/>
                <a:gd name="connsiteY0" fmla="*/ 0 h 148590"/>
                <a:gd name="connsiteX1" fmla="*/ 0 w 0"/>
                <a:gd name="connsiteY1" fmla="*/ 148590 h 1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48590">
                  <a:moveTo>
                    <a:pt x="0" y="0"/>
                  </a:moveTo>
                  <a:lnTo>
                    <a:pt x="0" y="148590"/>
                  </a:lnTo>
                </a:path>
              </a:pathLst>
            </a:custGeom>
            <a:noFill/>
            <a:ln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4" name="Figura a mano libera: forma 33">
              <a:extLst>
                <a:ext uri="{FF2B5EF4-FFF2-40B4-BE49-F238E27FC236}">
                  <a16:creationId xmlns:a16="http://schemas.microsoft.com/office/drawing/2014/main" id="{A274174D-7133-33F7-E1D4-7CE9BD5F3133}"/>
                </a:ext>
              </a:extLst>
            </p:cNvPr>
            <p:cNvSpPr/>
            <p:nvPr/>
          </p:nvSpPr>
          <p:spPr>
            <a:xfrm>
              <a:off x="5747385" y="3063100"/>
              <a:ext cx="0" cy="158115"/>
            </a:xfrm>
            <a:custGeom>
              <a:avLst/>
              <a:gdLst>
                <a:gd name="connsiteX0" fmla="*/ 0 w 0"/>
                <a:gd name="connsiteY0" fmla="*/ 0 h 158115"/>
                <a:gd name="connsiteX1" fmla="*/ 0 w 0"/>
                <a:gd name="connsiteY1" fmla="*/ 158115 h 158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58115">
                  <a:moveTo>
                    <a:pt x="0" y="0"/>
                  </a:moveTo>
                  <a:lnTo>
                    <a:pt x="0" y="158115"/>
                  </a:lnTo>
                </a:path>
              </a:pathLst>
            </a:custGeom>
            <a:noFill/>
            <a:ln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Rettangolo 35">
              <a:extLst>
                <a:ext uri="{FF2B5EF4-FFF2-40B4-BE49-F238E27FC236}">
                  <a16:creationId xmlns:a16="http://schemas.microsoft.com/office/drawing/2014/main" id="{87AA12B2-EFF8-4BC6-BC83-26241E695B49}"/>
                </a:ext>
              </a:extLst>
            </p:cNvPr>
            <p:cNvSpPr/>
            <p:nvPr/>
          </p:nvSpPr>
          <p:spPr>
            <a:xfrm>
              <a:off x="7358380" y="3031350"/>
              <a:ext cx="45719" cy="60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7" name="Rettangolo 36">
              <a:extLst>
                <a:ext uri="{FF2B5EF4-FFF2-40B4-BE49-F238E27FC236}">
                  <a16:creationId xmlns:a16="http://schemas.microsoft.com/office/drawing/2014/main" id="{FE9CE9C0-B5BB-59D3-682D-E57B169FE6C6}"/>
                </a:ext>
              </a:extLst>
            </p:cNvPr>
            <p:cNvSpPr/>
            <p:nvPr/>
          </p:nvSpPr>
          <p:spPr>
            <a:xfrm>
              <a:off x="7510780" y="3026270"/>
              <a:ext cx="45719" cy="60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8" name="Rettangolo 37">
              <a:extLst>
                <a:ext uri="{FF2B5EF4-FFF2-40B4-BE49-F238E27FC236}">
                  <a16:creationId xmlns:a16="http://schemas.microsoft.com/office/drawing/2014/main" id="{F427ADF4-313A-4A96-C73C-D7EA21F71FA5}"/>
                </a:ext>
              </a:extLst>
            </p:cNvPr>
            <p:cNvSpPr/>
            <p:nvPr/>
          </p:nvSpPr>
          <p:spPr>
            <a:xfrm>
              <a:off x="7663180" y="3021190"/>
              <a:ext cx="45719" cy="60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9" name="Rettangolo 38">
              <a:extLst>
                <a:ext uri="{FF2B5EF4-FFF2-40B4-BE49-F238E27FC236}">
                  <a16:creationId xmlns:a16="http://schemas.microsoft.com/office/drawing/2014/main" id="{312E2FBE-71C0-1E78-3460-60EA871FD000}"/>
                </a:ext>
              </a:extLst>
            </p:cNvPr>
            <p:cNvSpPr/>
            <p:nvPr/>
          </p:nvSpPr>
          <p:spPr>
            <a:xfrm>
              <a:off x="7815580" y="3026270"/>
              <a:ext cx="45719" cy="60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1" name="Rettangolo 40">
              <a:extLst>
                <a:ext uri="{FF2B5EF4-FFF2-40B4-BE49-F238E27FC236}">
                  <a16:creationId xmlns:a16="http://schemas.microsoft.com/office/drawing/2014/main" id="{73DE9745-44DE-FB62-EAF8-77ADE1CFB6EF}"/>
                </a:ext>
              </a:extLst>
            </p:cNvPr>
            <p:cNvSpPr/>
            <p:nvPr/>
          </p:nvSpPr>
          <p:spPr>
            <a:xfrm>
              <a:off x="7057390" y="3031350"/>
              <a:ext cx="45719" cy="60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2" name="Rettangolo 41">
              <a:extLst>
                <a:ext uri="{FF2B5EF4-FFF2-40B4-BE49-F238E27FC236}">
                  <a16:creationId xmlns:a16="http://schemas.microsoft.com/office/drawing/2014/main" id="{19C7114E-A4B0-6ED1-F2F7-06BFA81ED78F}"/>
                </a:ext>
              </a:extLst>
            </p:cNvPr>
            <p:cNvSpPr/>
            <p:nvPr/>
          </p:nvSpPr>
          <p:spPr>
            <a:xfrm>
              <a:off x="7209790" y="3031350"/>
              <a:ext cx="45719" cy="609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08A8AE88-1FDE-3A77-3100-A674F81F9DCC}"/>
              </a:ext>
            </a:extLst>
          </p:cNvPr>
          <p:cNvSpPr txBox="1"/>
          <p:nvPr/>
        </p:nvSpPr>
        <p:spPr>
          <a:xfrm>
            <a:off x="1803400" y="6048615"/>
            <a:ext cx="781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/>
              <a:t>Misura</a:t>
            </a:r>
            <a:endParaRPr lang="it-IT" i="1" dirty="0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7A69B970-F413-84FD-6720-9C71C4DB1EE3}"/>
              </a:ext>
            </a:extLst>
          </p:cNvPr>
          <p:cNvSpPr txBox="1"/>
          <p:nvPr/>
        </p:nvSpPr>
        <p:spPr>
          <a:xfrm>
            <a:off x="3630534" y="6048615"/>
            <a:ext cx="11192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/>
              <a:t>Correzioni</a:t>
            </a:r>
            <a:endParaRPr lang="it-IT" i="1" dirty="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A5B14DB-2DFA-0259-2D55-56F289880576}"/>
              </a:ext>
            </a:extLst>
          </p:cNvPr>
          <p:cNvSpPr txBox="1"/>
          <p:nvPr/>
        </p:nvSpPr>
        <p:spPr>
          <a:xfrm>
            <a:off x="5827395" y="6048615"/>
            <a:ext cx="781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i="1" dirty="0"/>
              <a:t>Misura</a:t>
            </a:r>
            <a:endParaRPr lang="it-IT" i="1" dirty="0"/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5D8167B8-10F5-E38D-FE52-B305C2EE7397}"/>
              </a:ext>
            </a:extLst>
          </p:cNvPr>
          <p:cNvCxnSpPr>
            <a:cxnSpLocks/>
            <a:stCxn id="45" idx="3"/>
            <a:endCxn id="46" idx="1"/>
          </p:cNvCxnSpPr>
          <p:nvPr/>
        </p:nvCxnSpPr>
        <p:spPr>
          <a:xfrm>
            <a:off x="2585209" y="6217892"/>
            <a:ext cx="10453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C552CD6B-4762-9B95-0700-102E14AC5690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>
            <a:off x="4749800" y="6217892"/>
            <a:ext cx="10775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2 56">
            <a:extLst>
              <a:ext uri="{FF2B5EF4-FFF2-40B4-BE49-F238E27FC236}">
                <a16:creationId xmlns:a16="http://schemas.microsoft.com/office/drawing/2014/main" id="{A40EC5A7-8F30-C80D-616E-7AACE81EFC35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6609204" y="6217892"/>
            <a:ext cx="1119266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Parentesi graffa chiusa 58">
            <a:extLst>
              <a:ext uri="{FF2B5EF4-FFF2-40B4-BE49-F238E27FC236}">
                <a16:creationId xmlns:a16="http://schemas.microsoft.com/office/drawing/2014/main" id="{5BB2A040-37D9-A6C0-1ABC-148EAAEC8E73}"/>
              </a:ext>
            </a:extLst>
          </p:cNvPr>
          <p:cNvSpPr/>
          <p:nvPr/>
        </p:nvSpPr>
        <p:spPr>
          <a:xfrm rot="5400000">
            <a:off x="4095484" y="4694479"/>
            <a:ext cx="221511" cy="2509520"/>
          </a:xfrm>
          <a:prstGeom prst="rightBrace">
            <a:avLst>
              <a:gd name="adj1" fmla="val 56600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64" name="Gruppo 63">
            <a:extLst>
              <a:ext uri="{FF2B5EF4-FFF2-40B4-BE49-F238E27FC236}">
                <a16:creationId xmlns:a16="http://schemas.microsoft.com/office/drawing/2014/main" id="{0CBE8552-0E83-BECA-E78A-008B0E7FE17C}"/>
              </a:ext>
            </a:extLst>
          </p:cNvPr>
          <p:cNvGrpSpPr/>
          <p:nvPr/>
        </p:nvGrpSpPr>
        <p:grpSpPr>
          <a:xfrm>
            <a:off x="7557769" y="4349608"/>
            <a:ext cx="817373" cy="183537"/>
            <a:chOff x="7063740" y="4662289"/>
            <a:chExt cx="817373" cy="183537"/>
          </a:xfrm>
        </p:grpSpPr>
        <p:sp>
          <p:nvSpPr>
            <p:cNvPr id="61" name="Connettore 60">
              <a:extLst>
                <a:ext uri="{FF2B5EF4-FFF2-40B4-BE49-F238E27FC236}">
                  <a16:creationId xmlns:a16="http://schemas.microsoft.com/office/drawing/2014/main" id="{8587448F-7A9A-D833-0EAE-510FCD855058}"/>
                </a:ext>
              </a:extLst>
            </p:cNvPr>
            <p:cNvSpPr/>
            <p:nvPr/>
          </p:nvSpPr>
          <p:spPr>
            <a:xfrm>
              <a:off x="7382764" y="4666501"/>
              <a:ext cx="179325" cy="179325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2" name="Connettore 61">
              <a:extLst>
                <a:ext uri="{FF2B5EF4-FFF2-40B4-BE49-F238E27FC236}">
                  <a16:creationId xmlns:a16="http://schemas.microsoft.com/office/drawing/2014/main" id="{E1DD0D68-F4AC-1139-2762-994C7191CF38}"/>
                </a:ext>
              </a:extLst>
            </p:cNvPr>
            <p:cNvSpPr/>
            <p:nvPr/>
          </p:nvSpPr>
          <p:spPr>
            <a:xfrm>
              <a:off x="7701788" y="4662289"/>
              <a:ext cx="179325" cy="179325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3" name="Connettore 62">
              <a:extLst>
                <a:ext uri="{FF2B5EF4-FFF2-40B4-BE49-F238E27FC236}">
                  <a16:creationId xmlns:a16="http://schemas.microsoft.com/office/drawing/2014/main" id="{254F8501-42AD-CFD6-6C5D-1B79ACD2857E}"/>
                </a:ext>
              </a:extLst>
            </p:cNvPr>
            <p:cNvSpPr/>
            <p:nvPr/>
          </p:nvSpPr>
          <p:spPr>
            <a:xfrm>
              <a:off x="7063740" y="4662289"/>
              <a:ext cx="179325" cy="179325"/>
            </a:xfrm>
            <a:prstGeom prst="flowChartConnector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4252624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tema QEC presentazion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1848</Words>
  <Application>Microsoft Office PowerPoint</Application>
  <PresentationFormat>Widescreen</PresentationFormat>
  <Paragraphs>283</Paragraphs>
  <Slides>18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Segoe Fluent Icons</vt:lpstr>
      <vt:lpstr>Wingdings</vt:lpstr>
      <vt:lpstr>Office Theme</vt:lpstr>
      <vt:lpstr>Personalizza struttura</vt:lpstr>
      <vt:lpstr>Sviluppo di un decoder basato su Reinforcement Learning per Quantum Error Correction</vt:lpstr>
      <vt:lpstr>Quantum Computing e Quantum Error Correction</vt:lpstr>
      <vt:lpstr>Surface Code e Decoding problem</vt:lpstr>
      <vt:lpstr>Problema, Obiettivi e Metodi</vt:lpstr>
      <vt:lpstr>Deep RL: Double Deep Q-Network (DDQN)</vt:lpstr>
      <vt:lpstr>Continual Learning: Probabilistic Policy Reuse (PPR)</vt:lpstr>
      <vt:lpstr>Setup sperimentale e simulazioni</vt:lpstr>
      <vt:lpstr>Risultati sperimentali: DDQN vs DDQN + PPR</vt:lpstr>
      <vt:lpstr>Risultati sperimentali: DDQN vs DDQN + PPR (cont.)</vt:lpstr>
      <vt:lpstr>Risultati sperimentali: Analisi Logical Lifetime</vt:lpstr>
      <vt:lpstr>Conclusioni e prospettive future</vt:lpstr>
      <vt:lpstr>Presentazione standard di PowerPoint</vt:lpstr>
      <vt:lpstr>Risultati sperimentali: DDQN vs DDQN + PPR </vt:lpstr>
      <vt:lpstr>Quantum gate, diagrammi di circuito e modelli di rumore</vt:lpstr>
      <vt:lpstr>Stabilizer states</vt:lpstr>
      <vt:lpstr>Misura indiretta degli stabilizzatori</vt:lpstr>
      <vt:lpstr>Processo di misura sequenziale e Faulty Syndrome Volume</vt:lpstr>
      <vt:lpstr>Ciclo di interazione MDP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s.razzetti@campus.unimib.it</dc:creator>
  <cp:lastModifiedBy>s.razzetti@campus.unimib.it</cp:lastModifiedBy>
  <cp:revision>43</cp:revision>
  <dcterms:created xsi:type="dcterms:W3CDTF">2025-11-17T21:32:02Z</dcterms:created>
  <dcterms:modified xsi:type="dcterms:W3CDTF">2025-11-27T08:30:14Z</dcterms:modified>
</cp:coreProperties>
</file>